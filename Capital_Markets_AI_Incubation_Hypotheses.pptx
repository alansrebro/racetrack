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7772400" cy="1005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4E6D"/>
        </a:solidFill>
        <a:effectLst/>
      </p:bgPr>
    </p:bg>
    <p:spTree>
      <p:nvGrpSpPr>
        <p:cNvPr id="1" name=""/>
        <p:cNvGrpSpPr/>
        <p:nvPr/>
      </p:nvGrpSpPr>
      <p:grpSpPr/>
      <p:pic>
        <p:nvPicPr>
          <p:cNvPr id="2" name="Picture 1" descr="ocorian_logo_white.png"/>
          <p:cNvPicPr>
            <a:picLocks noChangeAspect="1"/>
          </p:cNvPicPr>
          <p:nvPr/>
        </p:nvPicPr>
        <p:blipFill>
          <a:blip r:embed="rId2"/>
          <a:stretch>
            <a:fillRect/>
          </a:stretch>
        </p:blipFill>
        <p:spPr>
          <a:xfrm>
            <a:off x="3200400" y="1371600"/>
            <a:ext cx="1371600" cy="164592"/>
          </a:xfrm>
          <a:prstGeom prst="rect">
            <a:avLst/>
          </a:prstGeom>
        </p:spPr>
      </p:pic>
      <p:sp>
        <p:nvSpPr>
          <p:cNvPr id="3" name="TextBox 2"/>
          <p:cNvSpPr txBox="1"/>
          <p:nvPr/>
        </p:nvSpPr>
        <p:spPr>
          <a:xfrm>
            <a:off x="457200" y="2011680"/>
            <a:ext cx="6858000" cy="731520"/>
          </a:xfrm>
          <a:prstGeom prst="rect">
            <a:avLst/>
          </a:prstGeom>
          <a:noFill/>
        </p:spPr>
        <p:txBody>
          <a:bodyPr wrap="square" lIns="0" rIns="0" tIns="0" bIns="0"/>
          <a:lstStyle/>
          <a:p>
            <a:pPr algn="ctr">
              <a:defRPr sz="3600" b="1" i="0">
                <a:solidFill>
                  <a:srgbClr val="FFFFFF"/>
                </a:solidFill>
                <a:latin typeface="Helvetica"/>
              </a:defRPr>
            </a:pPr>
            <a:r>
              <a:t>AI Incubation Hypotheses</a:t>
            </a:r>
          </a:p>
        </p:txBody>
      </p:sp>
      <p:sp>
        <p:nvSpPr>
          <p:cNvPr id="4" name="TextBox 3"/>
          <p:cNvSpPr txBox="1"/>
          <p:nvPr/>
        </p:nvSpPr>
        <p:spPr>
          <a:xfrm>
            <a:off x="457200" y="2743200"/>
            <a:ext cx="6858000" cy="365760"/>
          </a:xfrm>
          <a:prstGeom prst="rect">
            <a:avLst/>
          </a:prstGeom>
          <a:noFill/>
        </p:spPr>
        <p:txBody>
          <a:bodyPr wrap="square" lIns="0" rIns="0" tIns="0" bIns="0"/>
          <a:lstStyle/>
          <a:p>
            <a:pPr algn="ctr">
              <a:defRPr sz="1400" b="0" i="0">
                <a:solidFill>
                  <a:srgbClr val="FFFFFF"/>
                </a:solidFill>
                <a:latin typeface="Helvetica"/>
              </a:defRPr>
            </a:pPr>
            <a:r>
              <a:t>EmphaSys Technologies — Proposed Prototypes for Capital Markets AI Strategy</a:t>
            </a:r>
          </a:p>
        </p:txBody>
      </p:sp>
      <p:sp>
        <p:nvSpPr>
          <p:cNvPr id="5" name="Rectangle 4"/>
          <p:cNvSpPr/>
          <p:nvPr/>
        </p:nvSpPr>
        <p:spPr>
          <a:xfrm>
            <a:off x="2057400" y="3383280"/>
            <a:ext cx="3657600" cy="254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749039"/>
            <a:ext cx="6858000" cy="274320"/>
          </a:xfrm>
          <a:prstGeom prst="rect">
            <a:avLst/>
          </a:prstGeom>
          <a:noFill/>
        </p:spPr>
        <p:txBody>
          <a:bodyPr wrap="square" lIns="0" rIns="0" tIns="0" bIns="0"/>
          <a:lstStyle/>
          <a:p>
            <a:pPr algn="ctr">
              <a:defRPr sz="900" b="0" i="0">
                <a:solidFill>
                  <a:srgbClr val="00A2C2"/>
                </a:solidFill>
                <a:latin typeface="Helvetica"/>
              </a:defRPr>
            </a:pPr>
            <a:r>
              <a:t>CONFIDENTIAL — DRAFT FOR DISCUSSION</a:t>
            </a:r>
          </a:p>
        </p:txBody>
      </p:sp>
      <p:sp>
        <p:nvSpPr>
          <p:cNvPr id="7" name="TextBox 6"/>
          <p:cNvSpPr txBox="1"/>
          <p:nvPr/>
        </p:nvSpPr>
        <p:spPr>
          <a:xfrm>
            <a:off x="457200" y="4114800"/>
            <a:ext cx="6858000" cy="274320"/>
          </a:xfrm>
          <a:prstGeom prst="rect">
            <a:avLst/>
          </a:prstGeom>
          <a:noFill/>
        </p:spPr>
        <p:txBody>
          <a:bodyPr wrap="square" lIns="0" rIns="0" tIns="0" bIns="0"/>
          <a:lstStyle/>
          <a:p>
            <a:pPr algn="ctr">
              <a:defRPr sz="1100" b="0" i="0">
                <a:solidFill>
                  <a:srgbClr val="FFFFFF"/>
                </a:solidFill>
                <a:latin typeface="Helvetica"/>
              </a:defRPr>
            </a:pPr>
            <a:r>
              <a:t>April 2026</a:t>
            </a:r>
          </a:p>
        </p:txBody>
      </p:sp>
      <p:sp>
        <p:nvSpPr>
          <p:cNvPr id="8" name="TextBox 7"/>
          <p:cNvSpPr txBox="1"/>
          <p:nvPr/>
        </p:nvSpPr>
        <p:spPr>
          <a:xfrm>
            <a:off x="457200" y="5212080"/>
            <a:ext cx="6858000" cy="274320"/>
          </a:xfrm>
          <a:prstGeom prst="rect">
            <a:avLst/>
          </a:prstGeom>
          <a:noFill/>
        </p:spPr>
        <p:txBody>
          <a:bodyPr wrap="square" lIns="0" rIns="0" tIns="0" bIns="0"/>
          <a:lstStyle/>
          <a:p>
            <a:pPr algn="ctr">
              <a:defRPr sz="800" b="0" i="0">
                <a:solidFill>
                  <a:srgbClr val="FFFFFF"/>
                </a:solidFill>
                <a:latin typeface="Helvetica"/>
              </a:defRPr>
            </a:pPr>
            <a:r>
              <a:t>Prepared by Alan Srebro · Managing Director · EmphaSys Technologies, Inc.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548640"/>
          </a:xfrm>
          <a:prstGeom prst="rect">
            <a:avLst/>
          </a:prstGeom>
          <a:solidFill>
            <a:srgbClr val="214E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corian_logo_white.png"/>
          <p:cNvPicPr>
            <a:picLocks noChangeAspect="1"/>
          </p:cNvPicPr>
          <p:nvPr/>
        </p:nvPicPr>
        <p:blipFill>
          <a:blip r:embed="rId2"/>
          <a:stretch>
            <a:fillRect/>
          </a:stretch>
        </p:blipFill>
        <p:spPr>
          <a:xfrm>
            <a:off x="274320" y="164592"/>
            <a:ext cx="914400" cy="109728"/>
          </a:xfrm>
          <a:prstGeom prst="rect">
            <a:avLst/>
          </a:prstGeom>
        </p:spPr>
      </p:pic>
      <p:sp>
        <p:nvSpPr>
          <p:cNvPr id="4" name="TextBox 3"/>
          <p:cNvSpPr txBox="1"/>
          <p:nvPr/>
        </p:nvSpPr>
        <p:spPr>
          <a:xfrm>
            <a:off x="1371600" y="109728"/>
            <a:ext cx="5029200" cy="365760"/>
          </a:xfrm>
          <a:prstGeom prst="rect">
            <a:avLst/>
          </a:prstGeom>
          <a:noFill/>
        </p:spPr>
        <p:txBody>
          <a:bodyPr wrap="square" lIns="0" rIns="0" tIns="0" bIns="0"/>
          <a:lstStyle/>
          <a:p>
            <a:pPr algn="ctr">
              <a:defRPr sz="1400" b="1" i="0">
                <a:solidFill>
                  <a:srgbClr val="FFFFFF"/>
                </a:solidFill>
                <a:latin typeface="Helvetica"/>
              </a:defRPr>
            </a:pPr>
            <a:r>
              <a:t>ETI AI Incubation Hypotheses</a:t>
            </a:r>
          </a:p>
        </p:txBody>
      </p:sp>
      <p:sp>
        <p:nvSpPr>
          <p:cNvPr id="5" name="TextBox 4"/>
          <p:cNvSpPr txBox="1"/>
          <p:nvPr/>
        </p:nvSpPr>
        <p:spPr>
          <a:xfrm>
            <a:off x="5943600" y="91440"/>
            <a:ext cx="1554480" cy="164592"/>
          </a:xfrm>
          <a:prstGeom prst="rect">
            <a:avLst/>
          </a:prstGeom>
          <a:noFill/>
        </p:spPr>
        <p:txBody>
          <a:bodyPr wrap="square" lIns="0" rIns="0" tIns="0" bIns="0"/>
          <a:lstStyle/>
          <a:p>
            <a:pPr algn="r">
              <a:defRPr sz="800" b="0" i="0">
                <a:solidFill>
                  <a:srgbClr val="FFFFFF"/>
                </a:solidFill>
                <a:latin typeface="Helvetica"/>
              </a:defRPr>
            </a:pPr>
            <a:r>
              <a:t>CONFIDENTIAL</a:t>
            </a:r>
          </a:p>
        </p:txBody>
      </p:sp>
      <p:sp>
        <p:nvSpPr>
          <p:cNvPr id="6" name="TextBox 5"/>
          <p:cNvSpPr txBox="1"/>
          <p:nvPr/>
        </p:nvSpPr>
        <p:spPr>
          <a:xfrm>
            <a:off x="5943600" y="256032"/>
            <a:ext cx="1554480" cy="164592"/>
          </a:xfrm>
          <a:prstGeom prst="rect">
            <a:avLst/>
          </a:prstGeom>
          <a:noFill/>
        </p:spPr>
        <p:txBody>
          <a:bodyPr wrap="square" lIns="0" rIns="0" tIns="0" bIns="0"/>
          <a:lstStyle/>
          <a:p>
            <a:pPr algn="r">
              <a:defRPr sz="800" b="0" i="0">
                <a:solidFill>
                  <a:srgbClr val="FFFFFF"/>
                </a:solidFill>
                <a:latin typeface="Helvetica"/>
              </a:defRPr>
            </a:pPr>
            <a:r>
              <a:t>April 2026</a:t>
            </a:r>
          </a:p>
        </p:txBody>
      </p:sp>
      <p:sp>
        <p:nvSpPr>
          <p:cNvPr id="7" name="TextBox 6"/>
          <p:cNvSpPr txBox="1"/>
          <p:nvPr/>
        </p:nvSpPr>
        <p:spPr>
          <a:xfrm>
            <a:off x="685800" y="777240"/>
            <a:ext cx="6400800" cy="365760"/>
          </a:xfrm>
          <a:prstGeom prst="rect">
            <a:avLst/>
          </a:prstGeom>
          <a:noFill/>
        </p:spPr>
        <p:txBody>
          <a:bodyPr wrap="square" lIns="0" rIns="0" tIns="0" bIns="0"/>
          <a:lstStyle/>
          <a:p>
            <a:pPr algn="l">
              <a:defRPr sz="1800" b="1" i="0">
                <a:solidFill>
                  <a:srgbClr val="00A2C2"/>
                </a:solidFill>
                <a:latin typeface="Helvetica"/>
              </a:defRPr>
            </a:pPr>
            <a:r>
              <a:t>Executive Summary</a:t>
            </a:r>
          </a:p>
        </p:txBody>
      </p:sp>
      <p:sp>
        <p:nvSpPr>
          <p:cNvPr id="8" name="Rectangle 7"/>
          <p:cNvSpPr/>
          <p:nvPr/>
        </p:nvSpPr>
        <p:spPr>
          <a:xfrm>
            <a:off x="3429000" y="1188720"/>
            <a:ext cx="914400" cy="1905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417320"/>
            <a:ext cx="6400800" cy="3200400"/>
          </a:xfrm>
          <a:prstGeom prst="rect">
            <a:avLst/>
          </a:prstGeom>
          <a:noFill/>
        </p:spPr>
        <p:txBody>
          <a:bodyPr wrap="square" lIns="0" rIns="0" tIns="0" bIns="0"/>
          <a:lstStyle/>
          <a:p>
            <a:pPr algn="just">
              <a:spcAft>
                <a:spcPts val="1000"/>
              </a:spcAft>
            </a:pPr>
            <a:r>
              <a:rPr sz="1000">
                <a:solidFill>
                  <a:srgbClr val="53565A"/>
                </a:solidFill>
                <a:latin typeface="Helvetica"/>
              </a:rPr>
              <a:t>This document presents EmphaSys Technologies' (ETI) proposed AI incubation hypotheses as part of the broader Ocorian Capital Markets AI strategy effort. These hypotheses span a range of AI use cases across ETI's workflows — from complex document intelligence and code generation to straightforward file retrieval automation — each grounded in real operational pain points and designed for rapid prototyping. A fourth hypothesis is included as a cross-unit collaboration opportunity with Nordic Trustee.</a:t>
            </a:r>
          </a:p>
          <a:p>
            <a:pPr algn="just">
              <a:spcAft>
                <a:spcPts val="1000"/>
              </a:spcAft>
            </a:pPr>
            <a:r>
              <a:rPr sz="1000" b="0">
                <a:solidFill>
                  <a:srgbClr val="53565A"/>
                </a:solidFill>
                <a:latin typeface="Helvetica"/>
              </a:rPr>
              <a:t>The hypotheses are organized by complexity and time-to-value. </a:t>
            </a:r>
            <a:r>
              <a:rPr sz="1000" b="1">
                <a:solidFill>
                  <a:srgbClr val="53565A"/>
                </a:solidFill>
                <a:latin typeface="Helvetica"/>
              </a:rPr>
              <a:t>Tax Report Retrieval</a:t>
            </a:r>
            <a:r>
              <a:rPr sz="1000" b="0">
                <a:solidFill>
                  <a:srgbClr val="53565A"/>
                </a:solidFill>
                <a:latin typeface="Helvetica"/>
              </a:rPr>
              <a:t> (Hypothesis 3) is the fastest quick win — buildable in hours, replacing a fragile VBA dependency with a modern tool. </a:t>
            </a:r>
            <a:r>
              <a:rPr sz="1000" b="1">
                <a:solidFill>
                  <a:srgbClr val="53565A"/>
                </a:solidFill>
                <a:latin typeface="Helvetica"/>
              </a:rPr>
              <a:t>Payment Reconciliation</a:t>
            </a:r>
            <a:r>
              <a:rPr sz="1000" b="0">
                <a:solidFill>
                  <a:srgbClr val="53565A"/>
                </a:solidFill>
                <a:latin typeface="Helvetica"/>
              </a:rPr>
              <a:t> (Hypothesis 2) and </a:t>
            </a:r>
            <a:r>
              <a:rPr sz="1000" b="1">
                <a:solidFill>
                  <a:srgbClr val="53565A"/>
                </a:solidFill>
                <a:latin typeface="Helvetica"/>
              </a:rPr>
              <a:t>Debt Domain Automation</a:t>
            </a:r>
            <a:r>
              <a:rPr sz="1000" b="0">
                <a:solidFill>
                  <a:srgbClr val="53565A"/>
                </a:solidFill>
                <a:latin typeface="Helvetica"/>
              </a:rPr>
              <a:t> (Hypothesis 4) are medium-complexity operational wins with strong recurring ROI, each prototypable in days. </a:t>
            </a:r>
            <a:r>
              <a:rPr sz="1000" b="1">
                <a:solidFill>
                  <a:srgbClr val="53565A"/>
                </a:solidFill>
                <a:latin typeface="Helvetica"/>
              </a:rPr>
              <a:t>AI-Assisted Deal Modeling</a:t>
            </a:r>
            <a:r>
              <a:rPr sz="1000" b="0">
                <a:solidFill>
                  <a:srgbClr val="53565A"/>
                </a:solidFill>
                <a:latin typeface="Helvetica"/>
              </a:rPr>
              <a:t> (Hypothesis 1) is the highest-upside opportunity in the portfolio — targeting the single most time-intensive analyst workflow in ETI — but carries proportionally higher execution risk and validation requirements.</a:t>
            </a:r>
          </a:p>
          <a:p>
            <a:pPr algn="just">
              <a:spcAft>
                <a:spcPts val="1000"/>
              </a:spcAft>
            </a:pPr>
            <a:r>
              <a:rPr sz="1000">
                <a:solidFill>
                  <a:srgbClr val="53565A"/>
                </a:solidFill>
                <a:latin typeface="Helvetica"/>
              </a:rPr>
              <a:t>Estimated timelines range from hours to a few weeks for initial pilots, making these fast-cycle experiments rather than multi-quarter transformation programs. Each hypothesis targets a measurable outcome — analyst hours recovered, reconciliation errors eliminated, legacy tooling replaced, or manual touches reduced — enabling straightforward ROI justification.</a:t>
            </a:r>
          </a:p>
        </p:txBody>
      </p:sp>
      <p:sp>
        <p:nvSpPr>
          <p:cNvPr id="10" name="Rectangle 9"/>
          <p:cNvSpPr/>
          <p:nvPr/>
        </p:nvSpPr>
        <p:spPr>
          <a:xfrm>
            <a:off x="685800" y="4617720"/>
            <a:ext cx="1920240" cy="292608"/>
          </a:xfrm>
          <a:prstGeom prst="rect">
            <a:avLst/>
          </a:prstGeom>
          <a:solidFill>
            <a:srgbClr val="214E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600" y="4643120"/>
            <a:ext cx="1818640" cy="241808"/>
          </a:xfrm>
          <a:prstGeom prst="rect">
            <a:avLst/>
          </a:prstGeom>
          <a:noFill/>
        </p:spPr>
        <p:txBody>
          <a:bodyPr wrap="square" lIns="0" rIns="0" tIns="0" bIns="0"/>
          <a:lstStyle/>
          <a:p>
            <a:pPr algn="ctr">
              <a:defRPr sz="900" b="1" i="0">
                <a:solidFill>
                  <a:srgbClr val="FFFFFF"/>
                </a:solidFill>
                <a:latin typeface="Helvetica"/>
              </a:defRPr>
            </a:pPr>
            <a:r>
              <a:t>Hypothesis</a:t>
            </a:r>
          </a:p>
        </p:txBody>
      </p:sp>
      <p:sp>
        <p:nvSpPr>
          <p:cNvPr id="12" name="Rectangle 11"/>
          <p:cNvSpPr/>
          <p:nvPr/>
        </p:nvSpPr>
        <p:spPr>
          <a:xfrm>
            <a:off x="2606040" y="4617720"/>
            <a:ext cx="1024128" cy="292608"/>
          </a:xfrm>
          <a:prstGeom prst="rect">
            <a:avLst/>
          </a:prstGeom>
          <a:solidFill>
            <a:srgbClr val="214E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56840" y="4643120"/>
            <a:ext cx="922528" cy="241808"/>
          </a:xfrm>
          <a:prstGeom prst="rect">
            <a:avLst/>
          </a:prstGeom>
          <a:noFill/>
        </p:spPr>
        <p:txBody>
          <a:bodyPr wrap="square" lIns="0" rIns="0" tIns="0" bIns="0"/>
          <a:lstStyle/>
          <a:p>
            <a:pPr algn="ctr">
              <a:defRPr sz="900" b="1" i="0">
                <a:solidFill>
                  <a:srgbClr val="FFFFFF"/>
                </a:solidFill>
                <a:latin typeface="Helvetica"/>
              </a:defRPr>
            </a:pPr>
            <a:r>
              <a:t>Category</a:t>
            </a:r>
          </a:p>
        </p:txBody>
      </p:sp>
      <p:sp>
        <p:nvSpPr>
          <p:cNvPr id="14" name="Rectangle 13"/>
          <p:cNvSpPr/>
          <p:nvPr/>
        </p:nvSpPr>
        <p:spPr>
          <a:xfrm>
            <a:off x="3630168" y="4617720"/>
            <a:ext cx="1088136" cy="292608"/>
          </a:xfrm>
          <a:prstGeom prst="rect">
            <a:avLst/>
          </a:prstGeom>
          <a:solidFill>
            <a:srgbClr val="214E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80968" y="4643120"/>
            <a:ext cx="986536" cy="241808"/>
          </a:xfrm>
          <a:prstGeom prst="rect">
            <a:avLst/>
          </a:prstGeom>
          <a:noFill/>
        </p:spPr>
        <p:txBody>
          <a:bodyPr wrap="square" lIns="0" rIns="0" tIns="0" bIns="0"/>
          <a:lstStyle/>
          <a:p>
            <a:pPr algn="ctr">
              <a:defRPr sz="900" b="1" i="0">
                <a:solidFill>
                  <a:srgbClr val="FFFFFF"/>
                </a:solidFill>
                <a:latin typeface="Helvetica"/>
              </a:defRPr>
            </a:pPr>
            <a:r>
              <a:t>Pilot Timeline</a:t>
            </a:r>
          </a:p>
        </p:txBody>
      </p:sp>
      <p:sp>
        <p:nvSpPr>
          <p:cNvPr id="16" name="Rectangle 15"/>
          <p:cNvSpPr/>
          <p:nvPr/>
        </p:nvSpPr>
        <p:spPr>
          <a:xfrm>
            <a:off x="4718304" y="4617720"/>
            <a:ext cx="2368296" cy="292608"/>
          </a:xfrm>
          <a:prstGeom prst="rect">
            <a:avLst/>
          </a:prstGeom>
          <a:solidFill>
            <a:srgbClr val="214E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69104" y="4643120"/>
            <a:ext cx="2266696" cy="241808"/>
          </a:xfrm>
          <a:prstGeom prst="rect">
            <a:avLst/>
          </a:prstGeom>
          <a:noFill/>
        </p:spPr>
        <p:txBody>
          <a:bodyPr wrap="square" lIns="0" rIns="0" tIns="0" bIns="0"/>
          <a:lstStyle/>
          <a:p>
            <a:pPr algn="ctr">
              <a:defRPr sz="900" b="1" i="0">
                <a:solidFill>
                  <a:srgbClr val="FFFFFF"/>
                </a:solidFill>
                <a:latin typeface="Helvetica"/>
              </a:defRPr>
            </a:pPr>
            <a:r>
              <a:t>Primary Value</a:t>
            </a:r>
          </a:p>
        </p:txBody>
      </p:sp>
      <p:sp>
        <p:nvSpPr>
          <p:cNvPr id="18" name="Rectangle 17"/>
          <p:cNvSpPr/>
          <p:nvPr/>
        </p:nvSpPr>
        <p:spPr>
          <a:xfrm>
            <a:off x="685800" y="4910328"/>
            <a:ext cx="192024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85800" y="5288026"/>
            <a:ext cx="192024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600" y="4935728"/>
            <a:ext cx="1818640" cy="333248"/>
          </a:xfrm>
          <a:prstGeom prst="rect">
            <a:avLst/>
          </a:prstGeom>
          <a:noFill/>
        </p:spPr>
        <p:txBody>
          <a:bodyPr wrap="square" lIns="0" rIns="0" tIns="0" bIns="0"/>
          <a:lstStyle/>
          <a:p>
            <a:pPr algn="l">
              <a:defRPr sz="900" b="0" i="0">
                <a:solidFill>
                  <a:srgbClr val="53565A"/>
                </a:solidFill>
                <a:latin typeface="Helvetica"/>
              </a:defRPr>
            </a:pPr>
            <a:r>
              <a:t>AI-Assisted Deal Modeling</a:t>
            </a:r>
            <a:br/>
            <a:r>
              <a:t>('The Holy Grail')</a:t>
            </a:r>
          </a:p>
        </p:txBody>
      </p:sp>
      <p:sp>
        <p:nvSpPr>
          <p:cNvPr id="21" name="Rectangle 20"/>
          <p:cNvSpPr/>
          <p:nvPr/>
        </p:nvSpPr>
        <p:spPr>
          <a:xfrm>
            <a:off x="2606040" y="4910328"/>
            <a:ext cx="1024128"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606040" y="5288026"/>
            <a:ext cx="1024128"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56840" y="4935728"/>
            <a:ext cx="922528" cy="333248"/>
          </a:xfrm>
          <a:prstGeom prst="rect">
            <a:avLst/>
          </a:prstGeom>
          <a:noFill/>
        </p:spPr>
        <p:txBody>
          <a:bodyPr wrap="square" lIns="0" rIns="0" tIns="0" bIns="0"/>
          <a:lstStyle/>
          <a:p>
            <a:pPr algn="l">
              <a:defRPr sz="900" b="0" i="0">
                <a:solidFill>
                  <a:srgbClr val="53565A"/>
                </a:solidFill>
                <a:latin typeface="Helvetica"/>
              </a:defRPr>
            </a:pPr>
            <a:r>
              <a:t>Strategic bet</a:t>
            </a:r>
          </a:p>
        </p:txBody>
      </p:sp>
      <p:sp>
        <p:nvSpPr>
          <p:cNvPr id="24" name="Rectangle 23"/>
          <p:cNvSpPr/>
          <p:nvPr/>
        </p:nvSpPr>
        <p:spPr>
          <a:xfrm>
            <a:off x="3630168" y="4910328"/>
            <a:ext cx="1088136"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30168" y="5288026"/>
            <a:ext cx="1088136"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80968" y="4935728"/>
            <a:ext cx="986536" cy="333248"/>
          </a:xfrm>
          <a:prstGeom prst="rect">
            <a:avLst/>
          </a:prstGeom>
          <a:noFill/>
        </p:spPr>
        <p:txBody>
          <a:bodyPr wrap="square" lIns="0" rIns="0" tIns="0" bIns="0"/>
          <a:lstStyle/>
          <a:p>
            <a:pPr algn="l">
              <a:defRPr sz="900" b="0" i="0">
                <a:solidFill>
                  <a:srgbClr val="53565A"/>
                </a:solidFill>
                <a:latin typeface="Helvetica"/>
              </a:defRPr>
            </a:pPr>
            <a:r>
              <a:t>~5–7 weeks</a:t>
            </a:r>
          </a:p>
        </p:txBody>
      </p:sp>
      <p:sp>
        <p:nvSpPr>
          <p:cNvPr id="27" name="Rectangle 26"/>
          <p:cNvSpPr/>
          <p:nvPr/>
        </p:nvSpPr>
        <p:spPr>
          <a:xfrm>
            <a:off x="4718304" y="4910328"/>
            <a:ext cx="2368296"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718304" y="5288026"/>
            <a:ext cx="2368296"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69104" y="4935728"/>
            <a:ext cx="2266696" cy="333248"/>
          </a:xfrm>
          <a:prstGeom prst="rect">
            <a:avLst/>
          </a:prstGeom>
          <a:noFill/>
        </p:spPr>
        <p:txBody>
          <a:bodyPr wrap="square" lIns="0" rIns="0" tIns="0" bIns="0"/>
          <a:lstStyle/>
          <a:p>
            <a:pPr algn="l">
              <a:defRPr sz="900" b="0" i="0">
                <a:solidFill>
                  <a:srgbClr val="53565A"/>
                </a:solidFill>
                <a:latin typeface="Helvetica"/>
              </a:defRPr>
            </a:pPr>
            <a:r>
              <a:t>Analyst modeling hours eliminated per deal</a:t>
            </a:r>
          </a:p>
        </p:txBody>
      </p:sp>
      <p:sp>
        <p:nvSpPr>
          <p:cNvPr id="30" name="Rectangle 29"/>
          <p:cNvSpPr/>
          <p:nvPr/>
        </p:nvSpPr>
        <p:spPr>
          <a:xfrm>
            <a:off x="685800" y="5294376"/>
            <a:ext cx="1920240"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85800" y="5580634"/>
            <a:ext cx="192024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6600" y="5319776"/>
            <a:ext cx="1818640" cy="241808"/>
          </a:xfrm>
          <a:prstGeom prst="rect">
            <a:avLst/>
          </a:prstGeom>
          <a:noFill/>
        </p:spPr>
        <p:txBody>
          <a:bodyPr wrap="square" lIns="0" rIns="0" tIns="0" bIns="0"/>
          <a:lstStyle/>
          <a:p>
            <a:pPr algn="l">
              <a:defRPr sz="900" b="0" i="0">
                <a:solidFill>
                  <a:srgbClr val="53565A"/>
                </a:solidFill>
                <a:latin typeface="Helvetica"/>
              </a:defRPr>
            </a:pPr>
            <a:r>
              <a:t>Payment Reconciliation</a:t>
            </a:r>
          </a:p>
        </p:txBody>
      </p:sp>
      <p:sp>
        <p:nvSpPr>
          <p:cNvPr id="33" name="Rectangle 32"/>
          <p:cNvSpPr/>
          <p:nvPr/>
        </p:nvSpPr>
        <p:spPr>
          <a:xfrm>
            <a:off x="2606040" y="5294376"/>
            <a:ext cx="1024128"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606040" y="5580634"/>
            <a:ext cx="1024128"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56840" y="5319776"/>
            <a:ext cx="922528" cy="241808"/>
          </a:xfrm>
          <a:prstGeom prst="rect">
            <a:avLst/>
          </a:prstGeom>
          <a:noFill/>
        </p:spPr>
        <p:txBody>
          <a:bodyPr wrap="square" lIns="0" rIns="0" tIns="0" bIns="0"/>
          <a:lstStyle/>
          <a:p>
            <a:pPr algn="l">
              <a:defRPr sz="900" b="0" i="0">
                <a:solidFill>
                  <a:srgbClr val="53565A"/>
                </a:solidFill>
                <a:latin typeface="Helvetica"/>
              </a:defRPr>
            </a:pPr>
            <a:r>
              <a:t>Operational win</a:t>
            </a:r>
          </a:p>
        </p:txBody>
      </p:sp>
      <p:sp>
        <p:nvSpPr>
          <p:cNvPr id="36" name="Rectangle 35"/>
          <p:cNvSpPr/>
          <p:nvPr/>
        </p:nvSpPr>
        <p:spPr>
          <a:xfrm>
            <a:off x="3630168" y="5294376"/>
            <a:ext cx="1088136"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30168" y="5580634"/>
            <a:ext cx="1088136"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80968" y="5319776"/>
            <a:ext cx="986536" cy="241808"/>
          </a:xfrm>
          <a:prstGeom prst="rect">
            <a:avLst/>
          </a:prstGeom>
          <a:noFill/>
        </p:spPr>
        <p:txBody>
          <a:bodyPr wrap="square" lIns="0" rIns="0" tIns="0" bIns="0"/>
          <a:lstStyle/>
          <a:p>
            <a:pPr algn="l">
              <a:defRPr sz="900" b="0" i="0">
                <a:solidFill>
                  <a:srgbClr val="53565A"/>
                </a:solidFill>
                <a:latin typeface="Helvetica"/>
              </a:defRPr>
            </a:pPr>
            <a:r>
              <a:t>~2–3 weeks</a:t>
            </a:r>
          </a:p>
        </p:txBody>
      </p:sp>
      <p:sp>
        <p:nvSpPr>
          <p:cNvPr id="39" name="Rectangle 38"/>
          <p:cNvSpPr/>
          <p:nvPr/>
        </p:nvSpPr>
        <p:spPr>
          <a:xfrm>
            <a:off x="4718304" y="5294376"/>
            <a:ext cx="2368296" cy="2926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18304" y="5580634"/>
            <a:ext cx="2368296"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69104" y="5319776"/>
            <a:ext cx="2266696" cy="241808"/>
          </a:xfrm>
          <a:prstGeom prst="rect">
            <a:avLst/>
          </a:prstGeom>
          <a:noFill/>
        </p:spPr>
        <p:txBody>
          <a:bodyPr wrap="square" lIns="0" rIns="0" tIns="0" bIns="0"/>
          <a:lstStyle/>
          <a:p>
            <a:pPr algn="l">
              <a:defRPr sz="900" b="0" i="0">
                <a:solidFill>
                  <a:srgbClr val="53565A"/>
                </a:solidFill>
                <a:latin typeface="Helvetica"/>
              </a:defRPr>
            </a:pPr>
            <a:r>
              <a:t>Reconciliation errors eliminated per cycle</a:t>
            </a:r>
          </a:p>
        </p:txBody>
      </p:sp>
      <p:sp>
        <p:nvSpPr>
          <p:cNvPr id="42" name="Rectangle 41"/>
          <p:cNvSpPr/>
          <p:nvPr/>
        </p:nvSpPr>
        <p:spPr>
          <a:xfrm>
            <a:off x="685800" y="5586984"/>
            <a:ext cx="192024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85800" y="5873242"/>
            <a:ext cx="192024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6600" y="5612384"/>
            <a:ext cx="1818640" cy="241808"/>
          </a:xfrm>
          <a:prstGeom prst="rect">
            <a:avLst/>
          </a:prstGeom>
          <a:noFill/>
        </p:spPr>
        <p:txBody>
          <a:bodyPr wrap="square" lIns="0" rIns="0" tIns="0" bIns="0"/>
          <a:lstStyle/>
          <a:p>
            <a:pPr algn="l">
              <a:defRPr sz="900" b="0" i="0">
                <a:solidFill>
                  <a:srgbClr val="53565A"/>
                </a:solidFill>
                <a:latin typeface="Helvetica"/>
              </a:defRPr>
            </a:pPr>
            <a:r>
              <a:t>Tax Report Retrieval</a:t>
            </a:r>
          </a:p>
        </p:txBody>
      </p:sp>
      <p:sp>
        <p:nvSpPr>
          <p:cNvPr id="45" name="Rectangle 44"/>
          <p:cNvSpPr/>
          <p:nvPr/>
        </p:nvSpPr>
        <p:spPr>
          <a:xfrm>
            <a:off x="2606040" y="5586984"/>
            <a:ext cx="1024128"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606040" y="5873242"/>
            <a:ext cx="1024128"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56840" y="5612384"/>
            <a:ext cx="922528" cy="241808"/>
          </a:xfrm>
          <a:prstGeom prst="rect">
            <a:avLst/>
          </a:prstGeom>
          <a:noFill/>
        </p:spPr>
        <p:txBody>
          <a:bodyPr wrap="square" lIns="0" rIns="0" tIns="0" bIns="0"/>
          <a:lstStyle/>
          <a:p>
            <a:pPr algn="l">
              <a:defRPr sz="900" b="0" i="0">
                <a:solidFill>
                  <a:srgbClr val="53565A"/>
                </a:solidFill>
                <a:latin typeface="Helvetica"/>
              </a:defRPr>
            </a:pPr>
            <a:r>
              <a:t>Quick win</a:t>
            </a:r>
          </a:p>
        </p:txBody>
      </p:sp>
      <p:sp>
        <p:nvSpPr>
          <p:cNvPr id="48" name="Rectangle 47"/>
          <p:cNvSpPr/>
          <p:nvPr/>
        </p:nvSpPr>
        <p:spPr>
          <a:xfrm>
            <a:off x="3630168" y="5586984"/>
            <a:ext cx="108813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630168" y="5873242"/>
            <a:ext cx="1088136"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80968" y="5612384"/>
            <a:ext cx="986536" cy="241808"/>
          </a:xfrm>
          <a:prstGeom prst="rect">
            <a:avLst/>
          </a:prstGeom>
          <a:noFill/>
        </p:spPr>
        <p:txBody>
          <a:bodyPr wrap="square" lIns="0" rIns="0" tIns="0" bIns="0"/>
          <a:lstStyle/>
          <a:p>
            <a:pPr algn="l">
              <a:defRPr sz="900" b="0" i="0">
                <a:solidFill>
                  <a:srgbClr val="53565A"/>
                </a:solidFill>
                <a:latin typeface="Helvetica"/>
              </a:defRPr>
            </a:pPr>
            <a:r>
              <a:t>~1–2 weeks</a:t>
            </a:r>
          </a:p>
        </p:txBody>
      </p:sp>
      <p:sp>
        <p:nvSpPr>
          <p:cNvPr id="51" name="Rectangle 50"/>
          <p:cNvSpPr/>
          <p:nvPr/>
        </p:nvSpPr>
        <p:spPr>
          <a:xfrm>
            <a:off x="4718304" y="5586984"/>
            <a:ext cx="2368296"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718304" y="5873242"/>
            <a:ext cx="2368296"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769104" y="5612384"/>
            <a:ext cx="2266696" cy="241808"/>
          </a:xfrm>
          <a:prstGeom prst="rect">
            <a:avLst/>
          </a:prstGeom>
          <a:noFill/>
        </p:spPr>
        <p:txBody>
          <a:bodyPr wrap="square" lIns="0" rIns="0" tIns="0" bIns="0"/>
          <a:lstStyle/>
          <a:p>
            <a:pPr algn="l">
              <a:defRPr sz="900" b="0" i="0">
                <a:solidFill>
                  <a:srgbClr val="53565A"/>
                </a:solidFill>
                <a:latin typeface="Helvetica"/>
              </a:defRPr>
            </a:pPr>
            <a:r>
              <a:t>NLP-driven ease of use; legacy VBA tool replaced</a:t>
            </a:r>
          </a:p>
        </p:txBody>
      </p:sp>
      <p:sp>
        <p:nvSpPr>
          <p:cNvPr id="54" name="Rectangle 53"/>
          <p:cNvSpPr/>
          <p:nvPr/>
        </p:nvSpPr>
        <p:spPr>
          <a:xfrm>
            <a:off x="685800" y="5879592"/>
            <a:ext cx="1920240"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85800" y="6257290"/>
            <a:ext cx="192024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6600" y="5904992"/>
            <a:ext cx="1818640" cy="333248"/>
          </a:xfrm>
          <a:prstGeom prst="rect">
            <a:avLst/>
          </a:prstGeom>
          <a:noFill/>
        </p:spPr>
        <p:txBody>
          <a:bodyPr wrap="square" lIns="0" rIns="0" tIns="0" bIns="0"/>
          <a:lstStyle/>
          <a:p>
            <a:pPr algn="l">
              <a:defRPr sz="900" b="0" i="0">
                <a:solidFill>
                  <a:srgbClr val="53565A"/>
                </a:solidFill>
                <a:latin typeface="Helvetica"/>
              </a:defRPr>
            </a:pPr>
            <a:r>
              <a:t>Debt Domain Automation</a:t>
            </a:r>
            <a:br/>
            <a:r>
              <a:t>(Bonus)</a:t>
            </a:r>
          </a:p>
        </p:txBody>
      </p:sp>
      <p:sp>
        <p:nvSpPr>
          <p:cNvPr id="57" name="Rectangle 56"/>
          <p:cNvSpPr/>
          <p:nvPr/>
        </p:nvSpPr>
        <p:spPr>
          <a:xfrm>
            <a:off x="2606040" y="5879592"/>
            <a:ext cx="1024128"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606040" y="6257290"/>
            <a:ext cx="1024128"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656840" y="5904992"/>
            <a:ext cx="922528" cy="333248"/>
          </a:xfrm>
          <a:prstGeom prst="rect">
            <a:avLst/>
          </a:prstGeom>
          <a:noFill/>
        </p:spPr>
        <p:txBody>
          <a:bodyPr wrap="square" lIns="0" rIns="0" tIns="0" bIns="0"/>
          <a:lstStyle/>
          <a:p>
            <a:pPr algn="l">
              <a:defRPr sz="900" b="0" i="0">
                <a:solidFill>
                  <a:srgbClr val="53565A"/>
                </a:solidFill>
                <a:latin typeface="Helvetica"/>
              </a:defRPr>
            </a:pPr>
            <a:r>
              <a:t>Cross-unit pilot</a:t>
            </a:r>
          </a:p>
        </p:txBody>
      </p:sp>
      <p:sp>
        <p:nvSpPr>
          <p:cNvPr id="60" name="Rectangle 59"/>
          <p:cNvSpPr/>
          <p:nvPr/>
        </p:nvSpPr>
        <p:spPr>
          <a:xfrm>
            <a:off x="3630168" y="5879592"/>
            <a:ext cx="1088136"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630168" y="6257290"/>
            <a:ext cx="1088136"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680968" y="5904992"/>
            <a:ext cx="986536" cy="333248"/>
          </a:xfrm>
          <a:prstGeom prst="rect">
            <a:avLst/>
          </a:prstGeom>
          <a:noFill/>
        </p:spPr>
        <p:txBody>
          <a:bodyPr wrap="square" lIns="0" rIns="0" tIns="0" bIns="0"/>
          <a:lstStyle/>
          <a:p>
            <a:pPr algn="l">
              <a:defRPr sz="900" b="0" i="0">
                <a:solidFill>
                  <a:srgbClr val="53565A"/>
                </a:solidFill>
                <a:latin typeface="Helvetica"/>
              </a:defRPr>
            </a:pPr>
            <a:r>
              <a:t>~2–3 weeks</a:t>
            </a:r>
          </a:p>
        </p:txBody>
      </p:sp>
      <p:sp>
        <p:nvSpPr>
          <p:cNvPr id="63" name="Rectangle 62"/>
          <p:cNvSpPr/>
          <p:nvPr/>
        </p:nvSpPr>
        <p:spPr>
          <a:xfrm>
            <a:off x="4718304" y="5879592"/>
            <a:ext cx="2368296" cy="38404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718304" y="6257290"/>
            <a:ext cx="2368296"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769104" y="5904992"/>
            <a:ext cx="2266696" cy="333248"/>
          </a:xfrm>
          <a:prstGeom prst="rect">
            <a:avLst/>
          </a:prstGeom>
          <a:noFill/>
        </p:spPr>
        <p:txBody>
          <a:bodyPr wrap="square" lIns="0" rIns="0" tIns="0" bIns="0"/>
          <a:lstStyle/>
          <a:p>
            <a:pPr algn="l">
              <a:defRPr sz="900" b="0" i="0">
                <a:solidFill>
                  <a:srgbClr val="53565A"/>
                </a:solidFill>
                <a:latin typeface="Helvetica"/>
              </a:defRPr>
            </a:pPr>
            <a:r>
              <a:t>Analyst touches reduced per upload cycle</a:t>
            </a:r>
          </a:p>
        </p:txBody>
      </p:sp>
      <p:sp>
        <p:nvSpPr>
          <p:cNvPr id="66" name="Rectangle 65"/>
          <p:cNvSpPr/>
          <p:nvPr/>
        </p:nvSpPr>
        <p:spPr>
          <a:xfrm>
            <a:off x="685800" y="9326880"/>
            <a:ext cx="914400" cy="127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85800" y="9418320"/>
            <a:ext cx="2743200" cy="182880"/>
          </a:xfrm>
          <a:prstGeom prst="rect">
            <a:avLst/>
          </a:prstGeom>
          <a:noFill/>
        </p:spPr>
        <p:txBody>
          <a:bodyPr wrap="square" lIns="0" rIns="0" tIns="0" bIns="0"/>
          <a:lstStyle/>
          <a:p>
            <a:pPr algn="l">
              <a:defRPr sz="700" b="0" i="0">
                <a:solidFill>
                  <a:srgbClr val="53565A"/>
                </a:solidFill>
                <a:latin typeface="Helvetica"/>
              </a:defRPr>
            </a:pPr>
            <a:r>
              <a:t>CONFIDENTIAL — DRAFT FOR DISCUSSION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548640"/>
          </a:xfrm>
          <a:prstGeom prst="rect">
            <a:avLst/>
          </a:prstGeom>
          <a:solidFill>
            <a:srgbClr val="214E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corian_logo_white.png"/>
          <p:cNvPicPr>
            <a:picLocks noChangeAspect="1"/>
          </p:cNvPicPr>
          <p:nvPr/>
        </p:nvPicPr>
        <p:blipFill>
          <a:blip r:embed="rId2"/>
          <a:stretch>
            <a:fillRect/>
          </a:stretch>
        </p:blipFill>
        <p:spPr>
          <a:xfrm>
            <a:off x="274320" y="164592"/>
            <a:ext cx="914400" cy="109728"/>
          </a:xfrm>
          <a:prstGeom prst="rect">
            <a:avLst/>
          </a:prstGeom>
        </p:spPr>
      </p:pic>
      <p:sp>
        <p:nvSpPr>
          <p:cNvPr id="4" name="TextBox 3"/>
          <p:cNvSpPr txBox="1"/>
          <p:nvPr/>
        </p:nvSpPr>
        <p:spPr>
          <a:xfrm>
            <a:off x="1371600" y="109728"/>
            <a:ext cx="5029200" cy="365760"/>
          </a:xfrm>
          <a:prstGeom prst="rect">
            <a:avLst/>
          </a:prstGeom>
          <a:noFill/>
        </p:spPr>
        <p:txBody>
          <a:bodyPr wrap="square" lIns="0" rIns="0" tIns="0" bIns="0"/>
          <a:lstStyle/>
          <a:p>
            <a:pPr algn="ctr">
              <a:defRPr sz="1400" b="1" i="0">
                <a:solidFill>
                  <a:srgbClr val="FFFFFF"/>
                </a:solidFill>
                <a:latin typeface="Helvetica"/>
              </a:defRPr>
            </a:pPr>
            <a:r>
              <a:t>Hypothesis 1</a:t>
            </a:r>
          </a:p>
        </p:txBody>
      </p:sp>
      <p:sp>
        <p:nvSpPr>
          <p:cNvPr id="5" name="TextBox 4"/>
          <p:cNvSpPr txBox="1"/>
          <p:nvPr/>
        </p:nvSpPr>
        <p:spPr>
          <a:xfrm>
            <a:off x="5943600" y="91440"/>
            <a:ext cx="1554480" cy="164592"/>
          </a:xfrm>
          <a:prstGeom prst="rect">
            <a:avLst/>
          </a:prstGeom>
          <a:noFill/>
        </p:spPr>
        <p:txBody>
          <a:bodyPr wrap="square" lIns="0" rIns="0" tIns="0" bIns="0"/>
          <a:lstStyle/>
          <a:p>
            <a:pPr algn="r">
              <a:defRPr sz="800" b="0" i="0">
                <a:solidFill>
                  <a:srgbClr val="FFFFFF"/>
                </a:solidFill>
                <a:latin typeface="Helvetica"/>
              </a:defRPr>
            </a:pPr>
            <a:r>
              <a:t>CONFIDENTIAL</a:t>
            </a:r>
          </a:p>
        </p:txBody>
      </p:sp>
      <p:sp>
        <p:nvSpPr>
          <p:cNvPr id="6" name="TextBox 5"/>
          <p:cNvSpPr txBox="1"/>
          <p:nvPr/>
        </p:nvSpPr>
        <p:spPr>
          <a:xfrm>
            <a:off x="5943600" y="256032"/>
            <a:ext cx="1554480" cy="164592"/>
          </a:xfrm>
          <a:prstGeom prst="rect">
            <a:avLst/>
          </a:prstGeom>
          <a:noFill/>
        </p:spPr>
        <p:txBody>
          <a:bodyPr wrap="square" lIns="0" rIns="0" tIns="0" bIns="0"/>
          <a:lstStyle/>
          <a:p>
            <a:pPr algn="r">
              <a:defRPr sz="800" b="0" i="0">
                <a:solidFill>
                  <a:srgbClr val="FFFFFF"/>
                </a:solidFill>
                <a:latin typeface="Helvetica"/>
              </a:defRPr>
            </a:pPr>
            <a:r>
              <a:t>April 2026</a:t>
            </a:r>
          </a:p>
        </p:txBody>
      </p:sp>
      <p:sp>
        <p:nvSpPr>
          <p:cNvPr id="7" name="TextBox 6"/>
          <p:cNvSpPr txBox="1"/>
          <p:nvPr/>
        </p:nvSpPr>
        <p:spPr>
          <a:xfrm>
            <a:off x="685800" y="685800"/>
            <a:ext cx="6400800" cy="457200"/>
          </a:xfrm>
          <a:prstGeom prst="rect">
            <a:avLst/>
          </a:prstGeom>
          <a:noFill/>
        </p:spPr>
        <p:txBody>
          <a:bodyPr wrap="square" lIns="0" rIns="0" tIns="0" bIns="0"/>
          <a:lstStyle/>
          <a:p>
            <a:pPr algn="l">
              <a:defRPr sz="1500" b="1" i="0">
                <a:solidFill>
                  <a:srgbClr val="00A2C2"/>
                </a:solidFill>
                <a:latin typeface="Helvetica"/>
              </a:defRPr>
            </a:pPr>
            <a:r>
              <a:t>Hypothesis 1: AI-Assisted Deal Modeling — 'The Holy Grail'</a:t>
            </a:r>
          </a:p>
        </p:txBody>
      </p:sp>
      <p:sp>
        <p:nvSpPr>
          <p:cNvPr id="8" name="Rectangle 7"/>
          <p:cNvSpPr/>
          <p:nvPr/>
        </p:nvSpPr>
        <p:spPr>
          <a:xfrm>
            <a:off x="3200400" y="1188720"/>
            <a:ext cx="914400" cy="1905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371600"/>
            <a:ext cx="3063240" cy="9525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1371600"/>
            <a:ext cx="25400" cy="9525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1447800"/>
            <a:ext cx="2860040" cy="164592"/>
          </a:xfrm>
          <a:prstGeom prst="rect">
            <a:avLst/>
          </a:prstGeom>
          <a:noFill/>
        </p:spPr>
        <p:txBody>
          <a:bodyPr wrap="square" lIns="0" rIns="0" tIns="0" bIns="0"/>
          <a:lstStyle/>
          <a:p>
            <a:pPr algn="l">
              <a:defRPr sz="800" b="1" i="0">
                <a:solidFill>
                  <a:srgbClr val="214E6D"/>
                </a:solidFill>
                <a:latin typeface="Helvetica"/>
              </a:defRPr>
            </a:pPr>
            <a:r>
              <a:t>ESTIMATED TIMELINE</a:t>
            </a:r>
          </a:p>
        </p:txBody>
      </p:sp>
      <p:sp>
        <p:nvSpPr>
          <p:cNvPr id="12" name="TextBox 11"/>
          <p:cNvSpPr txBox="1"/>
          <p:nvPr/>
        </p:nvSpPr>
        <p:spPr>
          <a:xfrm>
            <a:off x="787400" y="1651000"/>
            <a:ext cx="2860040" cy="596900"/>
          </a:xfrm>
          <a:prstGeom prst="rect">
            <a:avLst/>
          </a:prstGeom>
          <a:noFill/>
        </p:spPr>
        <p:txBody>
          <a:bodyPr wrap="square" lIns="0" rIns="0" tIns="0" bIns="0"/>
          <a:lstStyle/>
          <a:p>
            <a:pPr algn="l">
              <a:defRPr sz="900" b="0" i="0">
                <a:solidFill>
                  <a:srgbClr val="53565A"/>
                </a:solidFill>
                <a:latin typeface="Helvetica"/>
              </a:defRPr>
            </a:pPr>
            <a:r>
              <a:t>Build: 2–3 weeks. Testing/validation: 3–4 weeks. Total: ~5–7 weeks.</a:t>
            </a:r>
          </a:p>
        </p:txBody>
      </p:sp>
      <p:sp>
        <p:nvSpPr>
          <p:cNvPr id="13" name="Rectangle 12"/>
          <p:cNvSpPr/>
          <p:nvPr/>
        </p:nvSpPr>
        <p:spPr>
          <a:xfrm>
            <a:off x="4023360" y="1371600"/>
            <a:ext cx="3063240" cy="9525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23360" y="1371600"/>
            <a:ext cx="25400" cy="9525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24960" y="1447800"/>
            <a:ext cx="2860040" cy="164592"/>
          </a:xfrm>
          <a:prstGeom prst="rect">
            <a:avLst/>
          </a:prstGeom>
          <a:noFill/>
        </p:spPr>
        <p:txBody>
          <a:bodyPr wrap="square" lIns="0" rIns="0" tIns="0" bIns="0"/>
          <a:lstStyle/>
          <a:p>
            <a:pPr algn="l">
              <a:defRPr sz="800" b="1" i="0">
                <a:solidFill>
                  <a:srgbClr val="214E6D"/>
                </a:solidFill>
                <a:latin typeface="Helvetica"/>
              </a:defRPr>
            </a:pPr>
            <a:r>
              <a:t>TOOLING REQUIRED</a:t>
            </a:r>
          </a:p>
        </p:txBody>
      </p:sp>
      <p:sp>
        <p:nvSpPr>
          <p:cNvPr id="16" name="TextBox 15"/>
          <p:cNvSpPr txBox="1"/>
          <p:nvPr/>
        </p:nvSpPr>
        <p:spPr>
          <a:xfrm>
            <a:off x="4124960" y="1651000"/>
            <a:ext cx="2860040" cy="596900"/>
          </a:xfrm>
          <a:prstGeom prst="rect">
            <a:avLst/>
          </a:prstGeom>
          <a:noFill/>
        </p:spPr>
        <p:txBody>
          <a:bodyPr wrap="square" lIns="0" rIns="0" tIns="0" bIns="0"/>
          <a:lstStyle/>
          <a:p>
            <a:pPr algn="l">
              <a:defRPr sz="900" b="0" i="0">
                <a:solidFill>
                  <a:srgbClr val="53565A"/>
                </a:solidFill>
                <a:latin typeface="Helvetica"/>
              </a:defRPr>
            </a:pPr>
            <a:r>
              <a:t>Claude API (Opus/Sonnet), Claude Cowork, Python, existing deal archive and C waterfall code library, Streamlit or equivalent UI.</a:t>
            </a:r>
          </a:p>
        </p:txBody>
      </p:sp>
      <p:sp>
        <p:nvSpPr>
          <p:cNvPr id="17" name="Rectangle 16"/>
          <p:cNvSpPr/>
          <p:nvPr/>
        </p:nvSpPr>
        <p:spPr>
          <a:xfrm>
            <a:off x="685800" y="2461260"/>
            <a:ext cx="6400800" cy="1244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6995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000" y="2537460"/>
            <a:ext cx="1127760" cy="1092200"/>
          </a:xfrm>
          <a:prstGeom prst="rect">
            <a:avLst/>
          </a:prstGeom>
          <a:noFill/>
        </p:spPr>
        <p:txBody>
          <a:bodyPr wrap="square" lIns="0" rIns="0" tIns="0" bIns="0"/>
          <a:lstStyle/>
          <a:p>
            <a:pPr algn="l">
              <a:defRPr sz="900" b="1" i="0">
                <a:solidFill>
                  <a:srgbClr val="214E6D"/>
                </a:solidFill>
                <a:latin typeface="Helvetica"/>
              </a:defRPr>
            </a:pPr>
            <a:r>
              <a:t>Problem / Workflow</a:t>
            </a:r>
          </a:p>
        </p:txBody>
      </p:sp>
      <p:sp>
        <p:nvSpPr>
          <p:cNvPr id="20" name="TextBox 19"/>
          <p:cNvSpPr txBox="1"/>
          <p:nvPr/>
        </p:nvSpPr>
        <p:spPr>
          <a:xfrm>
            <a:off x="2042160" y="2537460"/>
            <a:ext cx="4968240" cy="1092200"/>
          </a:xfrm>
          <a:prstGeom prst="rect">
            <a:avLst/>
          </a:prstGeom>
          <a:noFill/>
        </p:spPr>
        <p:txBody>
          <a:bodyPr wrap="square" lIns="0" rIns="0" tIns="0" bIns="0"/>
          <a:lstStyle/>
          <a:p>
            <a:pPr algn="l">
              <a:defRPr sz="950" b="0" i="0">
                <a:solidFill>
                  <a:srgbClr val="53565A"/>
                </a:solidFill>
                <a:latin typeface="Helvetica"/>
              </a:defRPr>
            </a:pPr>
            <a:r>
              <a:t>ETI manages 2,500+ securitization deals. Each new deal requires analysts to manually read hundreds of pages of legal PDFs, identify structural features (capital structure, fees, payment priority, triggers, reserves), map those to custom C-based cashflow waterfall logic, and model tax rules — all by hand. The precision required for C-based waterfall modeling means vector-based and traditional NLP approaches lose critical nuance.</a:t>
            </a:r>
          </a:p>
        </p:txBody>
      </p:sp>
      <p:sp>
        <p:nvSpPr>
          <p:cNvPr id="21" name="Rectangle 20"/>
          <p:cNvSpPr/>
          <p:nvPr/>
        </p:nvSpPr>
        <p:spPr>
          <a:xfrm>
            <a:off x="685800" y="3705860"/>
            <a:ext cx="6400800" cy="1244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49441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000" y="3782060"/>
            <a:ext cx="1127760" cy="1092200"/>
          </a:xfrm>
          <a:prstGeom prst="rect">
            <a:avLst/>
          </a:prstGeom>
          <a:noFill/>
        </p:spPr>
        <p:txBody>
          <a:bodyPr wrap="square" lIns="0" rIns="0" tIns="0" bIns="0"/>
          <a:lstStyle/>
          <a:p>
            <a:pPr algn="l">
              <a:defRPr sz="900" b="1" i="0">
                <a:solidFill>
                  <a:srgbClr val="214E6D"/>
                </a:solidFill>
                <a:latin typeface="Helvetica"/>
              </a:defRPr>
            </a:pPr>
            <a:r>
              <a:t>AI Intervention</a:t>
            </a:r>
          </a:p>
        </p:txBody>
      </p:sp>
      <p:sp>
        <p:nvSpPr>
          <p:cNvPr id="24" name="TextBox 23"/>
          <p:cNvSpPr txBox="1"/>
          <p:nvPr/>
        </p:nvSpPr>
        <p:spPr>
          <a:xfrm>
            <a:off x="2042160" y="3782060"/>
            <a:ext cx="4968240" cy="1092200"/>
          </a:xfrm>
          <a:prstGeom prst="rect">
            <a:avLst/>
          </a:prstGeom>
          <a:noFill/>
        </p:spPr>
        <p:txBody>
          <a:bodyPr wrap="square" lIns="0" rIns="0" tIns="0" bIns="0"/>
          <a:lstStyle/>
          <a:p>
            <a:pPr algn="l">
              <a:defRPr sz="950" b="0" i="0">
                <a:solidFill>
                  <a:srgbClr val="53565A"/>
                </a:solidFill>
                <a:latin typeface="Helvetica"/>
              </a:defRPr>
            </a:pPr>
            <a:r>
              <a:t>Build a Claude Cowork-powered workflow where an analyst uploads a new deal PDF and selects 3–4 candidate reference deals. Claude compares the new deal against each reference in full context — preserving structural detail that embedding-based approaches lose — identifies the closest match, and takes that deal's existing C waterfall code and marks it up for the new deal, adjusting structure, rates, fees, triggers, and rules based on documented differences.</a:t>
            </a:r>
          </a:p>
        </p:txBody>
      </p:sp>
      <p:sp>
        <p:nvSpPr>
          <p:cNvPr id="25" name="Rectangle 24"/>
          <p:cNvSpPr/>
          <p:nvPr/>
        </p:nvSpPr>
        <p:spPr>
          <a:xfrm>
            <a:off x="685800" y="4950460"/>
            <a:ext cx="6400800" cy="1244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61887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2000" y="5026660"/>
            <a:ext cx="1127760" cy="1092200"/>
          </a:xfrm>
          <a:prstGeom prst="rect">
            <a:avLst/>
          </a:prstGeom>
          <a:noFill/>
        </p:spPr>
        <p:txBody>
          <a:bodyPr wrap="square" lIns="0" rIns="0" tIns="0" bIns="0"/>
          <a:lstStyle/>
          <a:p>
            <a:pPr algn="l">
              <a:defRPr sz="900" b="1" i="0">
                <a:solidFill>
                  <a:srgbClr val="214E6D"/>
                </a:solidFill>
                <a:latin typeface="Helvetica"/>
              </a:defRPr>
            </a:pPr>
            <a:r>
              <a:t>Expected Value</a:t>
            </a:r>
          </a:p>
        </p:txBody>
      </p:sp>
      <p:sp>
        <p:nvSpPr>
          <p:cNvPr id="28" name="TextBox 27"/>
          <p:cNvSpPr txBox="1"/>
          <p:nvPr/>
        </p:nvSpPr>
        <p:spPr>
          <a:xfrm>
            <a:off x="2042160" y="5026660"/>
            <a:ext cx="4968240" cy="1092200"/>
          </a:xfrm>
          <a:prstGeom prst="rect">
            <a:avLst/>
          </a:prstGeom>
          <a:noFill/>
        </p:spPr>
        <p:txBody>
          <a:bodyPr wrap="square" lIns="0" rIns="0" tIns="0" bIns="0"/>
          <a:lstStyle/>
          <a:p>
            <a:pPr algn="l">
              <a:defRPr sz="950" b="0" i="0">
                <a:solidFill>
                  <a:srgbClr val="53565A"/>
                </a:solidFill>
                <a:latin typeface="Helvetica"/>
              </a:defRPr>
            </a:pPr>
            <a:r>
              <a:t>Recovers significant analyst hours per deal by automating the most labor-intensive phase of deal onboarding. Reduces human error in mapping deal terms to waterfall logic. Improves modeling consistency across the portfolio — once established, the same approach enforces structural accuracy across both new and legacy deals. If validated, this becomes a durable operational advantage built around ETI's own deal library and codebase.</a:t>
            </a:r>
          </a:p>
        </p:txBody>
      </p:sp>
      <p:sp>
        <p:nvSpPr>
          <p:cNvPr id="29" name="Rectangle 28"/>
          <p:cNvSpPr/>
          <p:nvPr/>
        </p:nvSpPr>
        <p:spPr>
          <a:xfrm>
            <a:off x="685800" y="6195060"/>
            <a:ext cx="6400800" cy="1066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72555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2000" y="6271260"/>
            <a:ext cx="1127760" cy="914400"/>
          </a:xfrm>
          <a:prstGeom prst="rect">
            <a:avLst/>
          </a:prstGeom>
          <a:noFill/>
        </p:spPr>
        <p:txBody>
          <a:bodyPr wrap="square" lIns="0" rIns="0" tIns="0" bIns="0"/>
          <a:lstStyle/>
          <a:p>
            <a:pPr algn="l">
              <a:defRPr sz="900" b="1" i="0">
                <a:solidFill>
                  <a:srgbClr val="214E6D"/>
                </a:solidFill>
                <a:latin typeface="Helvetica"/>
              </a:defRPr>
            </a:pPr>
            <a:r>
              <a:t>Implementation</a:t>
            </a:r>
            <a:br/>
            <a:r>
              <a:t>Considerations</a:t>
            </a:r>
          </a:p>
        </p:txBody>
      </p:sp>
      <p:sp>
        <p:nvSpPr>
          <p:cNvPr id="32" name="TextBox 31"/>
          <p:cNvSpPr txBox="1"/>
          <p:nvPr/>
        </p:nvSpPr>
        <p:spPr>
          <a:xfrm>
            <a:off x="2042160" y="6271260"/>
            <a:ext cx="4968240" cy="914400"/>
          </a:xfrm>
          <a:prstGeom prst="rect">
            <a:avLst/>
          </a:prstGeom>
          <a:noFill/>
        </p:spPr>
        <p:txBody>
          <a:bodyPr wrap="square" lIns="0" rIns="0" tIns="0" bIns="0"/>
          <a:lstStyle/>
          <a:p>
            <a:pPr algn="l">
              <a:defRPr sz="950" b="0" i="0">
                <a:solidFill>
                  <a:srgbClr val="53565A"/>
                </a:solidFill>
                <a:latin typeface="Helvetica"/>
              </a:defRPr>
            </a:pPr>
            <a:r>
              <a:t>This is the most ambitious hypothesis in the portfolio and carries proportionally higher risk. Full-context comparison requires careful prompt engineering across hundreds of pages per deal. C code markup accuracy requires a human review loop — AI-generated code must be validated before production use. Start with a single deal type (e.g., RMBS) to validate the approach before expanding.</a:t>
            </a:r>
          </a:p>
        </p:txBody>
      </p:sp>
      <p:sp>
        <p:nvSpPr>
          <p:cNvPr id="33" name="Rectangle 32"/>
          <p:cNvSpPr/>
          <p:nvPr/>
        </p:nvSpPr>
        <p:spPr>
          <a:xfrm>
            <a:off x="685800" y="7261860"/>
            <a:ext cx="6400800" cy="1066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5800" y="83223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2000" y="7338060"/>
            <a:ext cx="1127760" cy="914400"/>
          </a:xfrm>
          <a:prstGeom prst="rect">
            <a:avLst/>
          </a:prstGeom>
          <a:noFill/>
        </p:spPr>
        <p:txBody>
          <a:bodyPr wrap="square" lIns="0" rIns="0" tIns="0" bIns="0"/>
          <a:lstStyle/>
          <a:p>
            <a:pPr algn="l">
              <a:defRPr sz="900" b="1" i="0">
                <a:solidFill>
                  <a:srgbClr val="214E6D"/>
                </a:solidFill>
                <a:latin typeface="Helvetica"/>
              </a:defRPr>
            </a:pPr>
            <a:r>
              <a:t>Why It Merits</a:t>
            </a:r>
            <a:br/>
            <a:r>
              <a:t>Incubation</a:t>
            </a:r>
          </a:p>
        </p:txBody>
      </p:sp>
      <p:sp>
        <p:nvSpPr>
          <p:cNvPr id="36" name="TextBox 35"/>
          <p:cNvSpPr txBox="1"/>
          <p:nvPr/>
        </p:nvSpPr>
        <p:spPr>
          <a:xfrm>
            <a:off x="2042160" y="7338060"/>
            <a:ext cx="4968240" cy="914400"/>
          </a:xfrm>
          <a:prstGeom prst="rect">
            <a:avLst/>
          </a:prstGeom>
          <a:noFill/>
        </p:spPr>
        <p:txBody>
          <a:bodyPr wrap="square" lIns="0" rIns="0" tIns="0" bIns="0"/>
          <a:lstStyle/>
          <a:p>
            <a:pPr algn="l">
              <a:defRPr sz="950" b="0" i="0">
                <a:solidFill>
                  <a:srgbClr val="53565A"/>
                </a:solidFill>
                <a:latin typeface="Helvetica"/>
              </a:defRPr>
            </a:pPr>
            <a:r>
              <a:t>Addresses the single most time-intensive analyst workflow in the business. The upside is substantial, but so is the validation effort — this is a multi-week incubation, not a quick win. Analyst-guided reference selection keeps domain expertise in the loop. Combines document intelligence with code generation built around ETI's own deal structures and C-based waterfall library.</a:t>
            </a:r>
          </a:p>
        </p:txBody>
      </p:sp>
      <p:sp>
        <p:nvSpPr>
          <p:cNvPr id="37" name="Rectangle 36"/>
          <p:cNvSpPr/>
          <p:nvPr/>
        </p:nvSpPr>
        <p:spPr>
          <a:xfrm>
            <a:off x="685800" y="9326880"/>
            <a:ext cx="914400" cy="127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9418320"/>
            <a:ext cx="2743200" cy="182880"/>
          </a:xfrm>
          <a:prstGeom prst="rect">
            <a:avLst/>
          </a:prstGeom>
          <a:noFill/>
        </p:spPr>
        <p:txBody>
          <a:bodyPr wrap="square" lIns="0" rIns="0" tIns="0" bIns="0"/>
          <a:lstStyle/>
          <a:p>
            <a:pPr algn="l">
              <a:defRPr sz="700" b="0" i="0">
                <a:solidFill>
                  <a:srgbClr val="53565A"/>
                </a:solidFill>
                <a:latin typeface="Helvetica"/>
              </a:defRPr>
            </a:pPr>
            <a:r>
              <a:t>CONFIDENTIAL — DRAFT FOR DISCUSSION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548640"/>
          </a:xfrm>
          <a:prstGeom prst="rect">
            <a:avLst/>
          </a:prstGeom>
          <a:solidFill>
            <a:srgbClr val="214E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corian_logo_white.png"/>
          <p:cNvPicPr>
            <a:picLocks noChangeAspect="1"/>
          </p:cNvPicPr>
          <p:nvPr/>
        </p:nvPicPr>
        <p:blipFill>
          <a:blip r:embed="rId2"/>
          <a:stretch>
            <a:fillRect/>
          </a:stretch>
        </p:blipFill>
        <p:spPr>
          <a:xfrm>
            <a:off x="274320" y="164592"/>
            <a:ext cx="914400" cy="109728"/>
          </a:xfrm>
          <a:prstGeom prst="rect">
            <a:avLst/>
          </a:prstGeom>
        </p:spPr>
      </p:pic>
      <p:sp>
        <p:nvSpPr>
          <p:cNvPr id="4" name="TextBox 3"/>
          <p:cNvSpPr txBox="1"/>
          <p:nvPr/>
        </p:nvSpPr>
        <p:spPr>
          <a:xfrm>
            <a:off x="1371600" y="109728"/>
            <a:ext cx="5029200" cy="365760"/>
          </a:xfrm>
          <a:prstGeom prst="rect">
            <a:avLst/>
          </a:prstGeom>
          <a:noFill/>
        </p:spPr>
        <p:txBody>
          <a:bodyPr wrap="square" lIns="0" rIns="0" tIns="0" bIns="0"/>
          <a:lstStyle/>
          <a:p>
            <a:pPr algn="ctr">
              <a:defRPr sz="1400" b="1" i="0">
                <a:solidFill>
                  <a:srgbClr val="FFFFFF"/>
                </a:solidFill>
                <a:latin typeface="Helvetica"/>
              </a:defRPr>
            </a:pPr>
            <a:r>
              <a:t>Hypothesis 2</a:t>
            </a:r>
          </a:p>
        </p:txBody>
      </p:sp>
      <p:sp>
        <p:nvSpPr>
          <p:cNvPr id="5" name="TextBox 4"/>
          <p:cNvSpPr txBox="1"/>
          <p:nvPr/>
        </p:nvSpPr>
        <p:spPr>
          <a:xfrm>
            <a:off x="5943600" y="91440"/>
            <a:ext cx="1554480" cy="164592"/>
          </a:xfrm>
          <a:prstGeom prst="rect">
            <a:avLst/>
          </a:prstGeom>
          <a:noFill/>
        </p:spPr>
        <p:txBody>
          <a:bodyPr wrap="square" lIns="0" rIns="0" tIns="0" bIns="0"/>
          <a:lstStyle/>
          <a:p>
            <a:pPr algn="r">
              <a:defRPr sz="800" b="0" i="0">
                <a:solidFill>
                  <a:srgbClr val="FFFFFF"/>
                </a:solidFill>
                <a:latin typeface="Helvetica"/>
              </a:defRPr>
            </a:pPr>
            <a:r>
              <a:t>CONFIDENTIAL</a:t>
            </a:r>
          </a:p>
        </p:txBody>
      </p:sp>
      <p:sp>
        <p:nvSpPr>
          <p:cNvPr id="6" name="TextBox 5"/>
          <p:cNvSpPr txBox="1"/>
          <p:nvPr/>
        </p:nvSpPr>
        <p:spPr>
          <a:xfrm>
            <a:off x="5943600" y="256032"/>
            <a:ext cx="1554480" cy="164592"/>
          </a:xfrm>
          <a:prstGeom prst="rect">
            <a:avLst/>
          </a:prstGeom>
          <a:noFill/>
        </p:spPr>
        <p:txBody>
          <a:bodyPr wrap="square" lIns="0" rIns="0" tIns="0" bIns="0"/>
          <a:lstStyle/>
          <a:p>
            <a:pPr algn="r">
              <a:defRPr sz="800" b="0" i="0">
                <a:solidFill>
                  <a:srgbClr val="FFFFFF"/>
                </a:solidFill>
                <a:latin typeface="Helvetica"/>
              </a:defRPr>
            </a:pPr>
            <a:r>
              <a:t>April 2026</a:t>
            </a:r>
          </a:p>
        </p:txBody>
      </p:sp>
      <p:sp>
        <p:nvSpPr>
          <p:cNvPr id="7" name="TextBox 6"/>
          <p:cNvSpPr txBox="1"/>
          <p:nvPr/>
        </p:nvSpPr>
        <p:spPr>
          <a:xfrm>
            <a:off x="685800" y="685800"/>
            <a:ext cx="6400800" cy="457200"/>
          </a:xfrm>
          <a:prstGeom prst="rect">
            <a:avLst/>
          </a:prstGeom>
          <a:noFill/>
        </p:spPr>
        <p:txBody>
          <a:bodyPr wrap="square" lIns="0" rIns="0" tIns="0" bIns="0"/>
          <a:lstStyle/>
          <a:p>
            <a:pPr algn="l">
              <a:defRPr sz="1500" b="1" i="0">
                <a:solidFill>
                  <a:srgbClr val="00A2C2"/>
                </a:solidFill>
                <a:latin typeface="Helvetica"/>
              </a:defRPr>
            </a:pPr>
            <a:r>
              <a:t>Hypothesis 2: Automated Payment Reconciliation — Trustee Reports vs. Shadow Payments</a:t>
            </a:r>
          </a:p>
        </p:txBody>
      </p:sp>
      <p:sp>
        <p:nvSpPr>
          <p:cNvPr id="8" name="Rectangle 7"/>
          <p:cNvSpPr/>
          <p:nvPr/>
        </p:nvSpPr>
        <p:spPr>
          <a:xfrm>
            <a:off x="3200400" y="1188720"/>
            <a:ext cx="914400" cy="1905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371600"/>
            <a:ext cx="3063240" cy="1117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1371600"/>
            <a:ext cx="25400" cy="11176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1447800"/>
            <a:ext cx="2860040" cy="164592"/>
          </a:xfrm>
          <a:prstGeom prst="rect">
            <a:avLst/>
          </a:prstGeom>
          <a:noFill/>
        </p:spPr>
        <p:txBody>
          <a:bodyPr wrap="square" lIns="0" rIns="0" tIns="0" bIns="0"/>
          <a:lstStyle/>
          <a:p>
            <a:pPr algn="l">
              <a:defRPr sz="800" b="1" i="0">
                <a:solidFill>
                  <a:srgbClr val="214E6D"/>
                </a:solidFill>
                <a:latin typeface="Helvetica"/>
              </a:defRPr>
            </a:pPr>
            <a:r>
              <a:t>ESTIMATED TIMELINE</a:t>
            </a:r>
          </a:p>
        </p:txBody>
      </p:sp>
      <p:sp>
        <p:nvSpPr>
          <p:cNvPr id="12" name="TextBox 11"/>
          <p:cNvSpPr txBox="1"/>
          <p:nvPr/>
        </p:nvSpPr>
        <p:spPr>
          <a:xfrm>
            <a:off x="787400" y="1651000"/>
            <a:ext cx="2860040" cy="762000"/>
          </a:xfrm>
          <a:prstGeom prst="rect">
            <a:avLst/>
          </a:prstGeom>
          <a:noFill/>
        </p:spPr>
        <p:txBody>
          <a:bodyPr wrap="square" lIns="0" rIns="0" tIns="0" bIns="0"/>
          <a:lstStyle/>
          <a:p>
            <a:pPr algn="l">
              <a:defRPr sz="900" b="0" i="0">
                <a:solidFill>
                  <a:srgbClr val="53565A"/>
                </a:solidFill>
                <a:latin typeface="Helvetica"/>
              </a:defRPr>
            </a:pPr>
            <a:r>
              <a:t>Build (single format): 2–3 days. Additional formats: 1–2 days each. Testing: 1–2 weeks. Total: ~2–3 weeks.</a:t>
            </a:r>
          </a:p>
        </p:txBody>
      </p:sp>
      <p:sp>
        <p:nvSpPr>
          <p:cNvPr id="13" name="Rectangle 12"/>
          <p:cNvSpPr/>
          <p:nvPr/>
        </p:nvSpPr>
        <p:spPr>
          <a:xfrm>
            <a:off x="4023360" y="1371600"/>
            <a:ext cx="3063240" cy="1117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23360" y="1371600"/>
            <a:ext cx="25400" cy="11176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24960" y="1447800"/>
            <a:ext cx="2860040" cy="164592"/>
          </a:xfrm>
          <a:prstGeom prst="rect">
            <a:avLst/>
          </a:prstGeom>
          <a:noFill/>
        </p:spPr>
        <p:txBody>
          <a:bodyPr wrap="square" lIns="0" rIns="0" tIns="0" bIns="0"/>
          <a:lstStyle/>
          <a:p>
            <a:pPr algn="l">
              <a:defRPr sz="800" b="1" i="0">
                <a:solidFill>
                  <a:srgbClr val="214E6D"/>
                </a:solidFill>
                <a:latin typeface="Helvetica"/>
              </a:defRPr>
            </a:pPr>
            <a:r>
              <a:t>TOOLING REQUIRED</a:t>
            </a:r>
          </a:p>
        </p:txBody>
      </p:sp>
      <p:sp>
        <p:nvSpPr>
          <p:cNvPr id="16" name="TextBox 15"/>
          <p:cNvSpPr txBox="1"/>
          <p:nvPr/>
        </p:nvSpPr>
        <p:spPr>
          <a:xfrm>
            <a:off x="4124960" y="1651000"/>
            <a:ext cx="2860040" cy="762000"/>
          </a:xfrm>
          <a:prstGeom prst="rect">
            <a:avLst/>
          </a:prstGeom>
          <a:noFill/>
        </p:spPr>
        <p:txBody>
          <a:bodyPr wrap="square" lIns="0" rIns="0" tIns="0" bIns="0"/>
          <a:lstStyle/>
          <a:p>
            <a:pPr algn="l">
              <a:defRPr sz="900" b="0" i="0">
                <a:solidFill>
                  <a:srgbClr val="53565A"/>
                </a:solidFill>
                <a:latin typeface="Helvetica"/>
              </a:defRPr>
            </a:pPr>
            <a:r>
              <a:t>Claude API (document parsing/extraction), Python (pandas, pdfplumber, openpyxl), internal shadow payment files, deal/bond reference data (CUSIP mappings), Excel output.</a:t>
            </a:r>
          </a:p>
        </p:txBody>
      </p:sp>
      <p:sp>
        <p:nvSpPr>
          <p:cNvPr id="17" name="Rectangle 16"/>
          <p:cNvSpPr/>
          <p:nvPr/>
        </p:nvSpPr>
        <p:spPr>
          <a:xfrm>
            <a:off x="685800" y="2626360"/>
            <a:ext cx="6400800" cy="1244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8646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000" y="2702560"/>
            <a:ext cx="1127760" cy="1092200"/>
          </a:xfrm>
          <a:prstGeom prst="rect">
            <a:avLst/>
          </a:prstGeom>
          <a:noFill/>
        </p:spPr>
        <p:txBody>
          <a:bodyPr wrap="square" lIns="0" rIns="0" tIns="0" bIns="0"/>
          <a:lstStyle/>
          <a:p>
            <a:pPr algn="l">
              <a:defRPr sz="900" b="1" i="0">
                <a:solidFill>
                  <a:srgbClr val="214E6D"/>
                </a:solidFill>
                <a:latin typeface="Helvetica"/>
              </a:defRPr>
            </a:pPr>
            <a:r>
              <a:t>Problem / Workflow</a:t>
            </a:r>
          </a:p>
        </p:txBody>
      </p:sp>
      <p:sp>
        <p:nvSpPr>
          <p:cNvPr id="20" name="TextBox 19"/>
          <p:cNvSpPr txBox="1"/>
          <p:nvPr/>
        </p:nvSpPr>
        <p:spPr>
          <a:xfrm>
            <a:off x="2042160" y="2702560"/>
            <a:ext cx="4968240" cy="1092200"/>
          </a:xfrm>
          <a:prstGeom prst="rect">
            <a:avLst/>
          </a:prstGeom>
          <a:noFill/>
        </p:spPr>
        <p:txBody>
          <a:bodyPr wrap="square" lIns="0" rIns="0" tIns="0" bIns="0"/>
          <a:lstStyle/>
          <a:p>
            <a:pPr algn="l">
              <a:defRPr sz="950" b="0" i="0">
                <a:solidFill>
                  <a:srgbClr val="53565A"/>
                </a:solidFill>
                <a:latin typeface="Helvetica"/>
              </a:defRPr>
            </a:pPr>
            <a:r>
              <a:t>ETI analysts routinely receive payment reports from major U.S. trustees (Citibank, Bank of New York, Wilmington Trust) in PDF or Excel format. These must be manually compared against ETI's internal 'shadow' payment calculations stored in text and CSV files. The process involves ingesting the trustee report, identifying the deal, matching bonds by name and/or CUSIP, and performing a line-by-line comparison. This is high-frequency, repetitive, and error-prone.</a:t>
            </a:r>
          </a:p>
        </p:txBody>
      </p:sp>
      <p:sp>
        <p:nvSpPr>
          <p:cNvPr id="21" name="Rectangle 20"/>
          <p:cNvSpPr/>
          <p:nvPr/>
        </p:nvSpPr>
        <p:spPr>
          <a:xfrm>
            <a:off x="685800" y="3870960"/>
            <a:ext cx="6400800" cy="1066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49314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000" y="3947160"/>
            <a:ext cx="1127760" cy="914400"/>
          </a:xfrm>
          <a:prstGeom prst="rect">
            <a:avLst/>
          </a:prstGeom>
          <a:noFill/>
        </p:spPr>
        <p:txBody>
          <a:bodyPr wrap="square" lIns="0" rIns="0" tIns="0" bIns="0"/>
          <a:lstStyle/>
          <a:p>
            <a:pPr algn="l">
              <a:defRPr sz="900" b="1" i="0">
                <a:solidFill>
                  <a:srgbClr val="214E6D"/>
                </a:solidFill>
                <a:latin typeface="Helvetica"/>
              </a:defRPr>
            </a:pPr>
            <a:r>
              <a:t>AI Intervention</a:t>
            </a:r>
          </a:p>
        </p:txBody>
      </p:sp>
      <p:sp>
        <p:nvSpPr>
          <p:cNvPr id="24" name="TextBox 23"/>
          <p:cNvSpPr txBox="1"/>
          <p:nvPr/>
        </p:nvSpPr>
        <p:spPr>
          <a:xfrm>
            <a:off x="2042160" y="3947160"/>
            <a:ext cx="4968240" cy="914400"/>
          </a:xfrm>
          <a:prstGeom prst="rect">
            <a:avLst/>
          </a:prstGeom>
          <a:noFill/>
        </p:spPr>
        <p:txBody>
          <a:bodyPr wrap="square" lIns="0" rIns="0" tIns="0" bIns="0"/>
          <a:lstStyle/>
          <a:p>
            <a:pPr algn="l">
              <a:defRPr sz="950" b="0" i="0">
                <a:solidFill>
                  <a:srgbClr val="53565A"/>
                </a:solidFill>
                <a:latin typeface="Helvetica"/>
              </a:defRPr>
            </a:pPr>
            <a:r>
              <a:t>Build an AI-powered reconciliation prototype that ingests trustee payment reports in PDF or Excel, extracts structured payment data, identifies the deal and matches bonds via deal name or CUSIP, retrieves corresponding shadow payment data from ETI's internal files, and performs an automated comparison flagging discrepancies with context.</a:t>
            </a:r>
          </a:p>
        </p:txBody>
      </p:sp>
      <p:sp>
        <p:nvSpPr>
          <p:cNvPr id="25" name="Rectangle 24"/>
          <p:cNvSpPr/>
          <p:nvPr/>
        </p:nvSpPr>
        <p:spPr>
          <a:xfrm>
            <a:off x="685800" y="4937760"/>
            <a:ext cx="6400800" cy="88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58204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2000" y="5013960"/>
            <a:ext cx="1127760" cy="736600"/>
          </a:xfrm>
          <a:prstGeom prst="rect">
            <a:avLst/>
          </a:prstGeom>
          <a:noFill/>
        </p:spPr>
        <p:txBody>
          <a:bodyPr wrap="square" lIns="0" rIns="0" tIns="0" bIns="0"/>
          <a:lstStyle/>
          <a:p>
            <a:pPr algn="l">
              <a:defRPr sz="900" b="1" i="0">
                <a:solidFill>
                  <a:srgbClr val="214E6D"/>
                </a:solidFill>
                <a:latin typeface="Helvetica"/>
              </a:defRPr>
            </a:pPr>
            <a:r>
              <a:t>Expected Value</a:t>
            </a:r>
          </a:p>
        </p:txBody>
      </p:sp>
      <p:sp>
        <p:nvSpPr>
          <p:cNvPr id="28" name="TextBox 27"/>
          <p:cNvSpPr txBox="1"/>
          <p:nvPr/>
        </p:nvSpPr>
        <p:spPr>
          <a:xfrm>
            <a:off x="2042160" y="5013960"/>
            <a:ext cx="4968240" cy="736600"/>
          </a:xfrm>
          <a:prstGeom prst="rect">
            <a:avLst/>
          </a:prstGeom>
          <a:noFill/>
        </p:spPr>
        <p:txBody>
          <a:bodyPr wrap="square" lIns="0" rIns="0" tIns="0" bIns="0"/>
          <a:lstStyle/>
          <a:p>
            <a:pPr algn="l">
              <a:defRPr sz="950" b="0" i="0">
                <a:solidFill>
                  <a:srgbClr val="53565A"/>
                </a:solidFill>
                <a:latin typeface="Helvetica"/>
              </a:defRPr>
            </a:pPr>
            <a:r>
              <a:t>Eliminates hours of manual comparison per payment cycle. Reduces reconciliation errors. Speeds up exception identification — analysts focus only on flagged items. Scales across the full portfolio without proportional headcount. Creates an audit trail.</a:t>
            </a:r>
          </a:p>
        </p:txBody>
      </p:sp>
      <p:sp>
        <p:nvSpPr>
          <p:cNvPr id="29" name="Rectangle 28"/>
          <p:cNvSpPr/>
          <p:nvPr/>
        </p:nvSpPr>
        <p:spPr>
          <a:xfrm>
            <a:off x="685800" y="5826760"/>
            <a:ext cx="6400800" cy="711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65316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2000" y="5902960"/>
            <a:ext cx="1127760" cy="558800"/>
          </a:xfrm>
          <a:prstGeom prst="rect">
            <a:avLst/>
          </a:prstGeom>
          <a:noFill/>
        </p:spPr>
        <p:txBody>
          <a:bodyPr wrap="square" lIns="0" rIns="0" tIns="0" bIns="0"/>
          <a:lstStyle/>
          <a:p>
            <a:pPr algn="l">
              <a:defRPr sz="900" b="1" i="0">
                <a:solidFill>
                  <a:srgbClr val="214E6D"/>
                </a:solidFill>
                <a:latin typeface="Helvetica"/>
              </a:defRPr>
            </a:pPr>
            <a:r>
              <a:t>Implementation</a:t>
            </a:r>
            <a:br/>
            <a:r>
              <a:t>Considerations</a:t>
            </a:r>
          </a:p>
        </p:txBody>
      </p:sp>
      <p:sp>
        <p:nvSpPr>
          <p:cNvPr id="32" name="TextBox 31"/>
          <p:cNvSpPr txBox="1"/>
          <p:nvPr/>
        </p:nvSpPr>
        <p:spPr>
          <a:xfrm>
            <a:off x="2042160" y="5902960"/>
            <a:ext cx="4968240" cy="558800"/>
          </a:xfrm>
          <a:prstGeom prst="rect">
            <a:avLst/>
          </a:prstGeom>
          <a:noFill/>
        </p:spPr>
        <p:txBody>
          <a:bodyPr wrap="square" lIns="0" rIns="0" tIns="0" bIns="0"/>
          <a:lstStyle/>
          <a:p>
            <a:pPr algn="l">
              <a:defRPr sz="950" b="0" i="0">
                <a:solidFill>
                  <a:srgbClr val="53565A"/>
                </a:solidFill>
                <a:latin typeface="Helvetica"/>
              </a:defRPr>
            </a:pPr>
            <a:r>
              <a:t>Multi-format input requires robust parsing. Bond matching must handle naming inconsistencies across trustees. Start with one trustee format and expand. Shadow payment file structure needs to be well-documented.</a:t>
            </a:r>
          </a:p>
        </p:txBody>
      </p:sp>
      <p:sp>
        <p:nvSpPr>
          <p:cNvPr id="33" name="Rectangle 32"/>
          <p:cNvSpPr/>
          <p:nvPr/>
        </p:nvSpPr>
        <p:spPr>
          <a:xfrm>
            <a:off x="685800" y="6537960"/>
            <a:ext cx="6400800" cy="711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5800" y="72428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2000" y="6614160"/>
            <a:ext cx="1127760" cy="558800"/>
          </a:xfrm>
          <a:prstGeom prst="rect">
            <a:avLst/>
          </a:prstGeom>
          <a:noFill/>
        </p:spPr>
        <p:txBody>
          <a:bodyPr wrap="square" lIns="0" rIns="0" tIns="0" bIns="0"/>
          <a:lstStyle/>
          <a:p>
            <a:pPr algn="l">
              <a:defRPr sz="900" b="1" i="0">
                <a:solidFill>
                  <a:srgbClr val="214E6D"/>
                </a:solidFill>
                <a:latin typeface="Helvetica"/>
              </a:defRPr>
            </a:pPr>
            <a:r>
              <a:t>Why It Merits</a:t>
            </a:r>
            <a:br/>
            <a:r>
              <a:t>Incubation</a:t>
            </a:r>
          </a:p>
        </p:txBody>
      </p:sp>
      <p:sp>
        <p:nvSpPr>
          <p:cNvPr id="36" name="TextBox 35"/>
          <p:cNvSpPr txBox="1"/>
          <p:nvPr/>
        </p:nvSpPr>
        <p:spPr>
          <a:xfrm>
            <a:off x="2042160" y="6614160"/>
            <a:ext cx="4968240" cy="558800"/>
          </a:xfrm>
          <a:prstGeom prst="rect">
            <a:avLst/>
          </a:prstGeom>
          <a:noFill/>
        </p:spPr>
        <p:txBody>
          <a:bodyPr wrap="square" lIns="0" rIns="0" tIns="0" bIns="0"/>
          <a:lstStyle/>
          <a:p>
            <a:pPr algn="l">
              <a:defRPr sz="950" b="0" i="0">
                <a:solidFill>
                  <a:srgbClr val="53565A"/>
                </a:solidFill>
                <a:latin typeface="Helvetica"/>
              </a:defRPr>
            </a:pPr>
            <a:r>
              <a:t>Addresses a recurring, high-frequency workflow that directly consumes analyst capacity. Pain point is universal across the portfolio. Prototype can demonstrate value quickly with a single trustee's reports. Clear, quantifiable metrics.</a:t>
            </a:r>
          </a:p>
        </p:txBody>
      </p:sp>
      <p:sp>
        <p:nvSpPr>
          <p:cNvPr id="37" name="Rectangle 36"/>
          <p:cNvSpPr/>
          <p:nvPr/>
        </p:nvSpPr>
        <p:spPr>
          <a:xfrm>
            <a:off x="685800" y="9326880"/>
            <a:ext cx="914400" cy="127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9418320"/>
            <a:ext cx="2743200" cy="182880"/>
          </a:xfrm>
          <a:prstGeom prst="rect">
            <a:avLst/>
          </a:prstGeom>
          <a:noFill/>
        </p:spPr>
        <p:txBody>
          <a:bodyPr wrap="square" lIns="0" rIns="0" tIns="0" bIns="0"/>
          <a:lstStyle/>
          <a:p>
            <a:pPr algn="l">
              <a:defRPr sz="700" b="0" i="0">
                <a:solidFill>
                  <a:srgbClr val="53565A"/>
                </a:solidFill>
                <a:latin typeface="Helvetica"/>
              </a:defRPr>
            </a:pPr>
            <a:r>
              <a:t>CONFIDENTIAL — DRAFT FOR DISCUSSION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548640"/>
          </a:xfrm>
          <a:prstGeom prst="rect">
            <a:avLst/>
          </a:prstGeom>
          <a:solidFill>
            <a:srgbClr val="214E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corian_logo_white.png"/>
          <p:cNvPicPr>
            <a:picLocks noChangeAspect="1"/>
          </p:cNvPicPr>
          <p:nvPr/>
        </p:nvPicPr>
        <p:blipFill>
          <a:blip r:embed="rId2"/>
          <a:stretch>
            <a:fillRect/>
          </a:stretch>
        </p:blipFill>
        <p:spPr>
          <a:xfrm>
            <a:off x="274320" y="164592"/>
            <a:ext cx="914400" cy="109728"/>
          </a:xfrm>
          <a:prstGeom prst="rect">
            <a:avLst/>
          </a:prstGeom>
        </p:spPr>
      </p:pic>
      <p:sp>
        <p:nvSpPr>
          <p:cNvPr id="4" name="TextBox 3"/>
          <p:cNvSpPr txBox="1"/>
          <p:nvPr/>
        </p:nvSpPr>
        <p:spPr>
          <a:xfrm>
            <a:off x="1371600" y="109728"/>
            <a:ext cx="5029200" cy="365760"/>
          </a:xfrm>
          <a:prstGeom prst="rect">
            <a:avLst/>
          </a:prstGeom>
          <a:noFill/>
        </p:spPr>
        <p:txBody>
          <a:bodyPr wrap="square" lIns="0" rIns="0" tIns="0" bIns="0"/>
          <a:lstStyle/>
          <a:p>
            <a:pPr algn="ctr">
              <a:defRPr sz="1400" b="1" i="0">
                <a:solidFill>
                  <a:srgbClr val="FFFFFF"/>
                </a:solidFill>
                <a:latin typeface="Helvetica"/>
              </a:defRPr>
            </a:pPr>
            <a:r>
              <a:t>Hypothesis 3</a:t>
            </a:r>
          </a:p>
        </p:txBody>
      </p:sp>
      <p:sp>
        <p:nvSpPr>
          <p:cNvPr id="5" name="TextBox 4"/>
          <p:cNvSpPr txBox="1"/>
          <p:nvPr/>
        </p:nvSpPr>
        <p:spPr>
          <a:xfrm>
            <a:off x="5943600" y="91440"/>
            <a:ext cx="1554480" cy="164592"/>
          </a:xfrm>
          <a:prstGeom prst="rect">
            <a:avLst/>
          </a:prstGeom>
          <a:noFill/>
        </p:spPr>
        <p:txBody>
          <a:bodyPr wrap="square" lIns="0" rIns="0" tIns="0" bIns="0"/>
          <a:lstStyle/>
          <a:p>
            <a:pPr algn="r">
              <a:defRPr sz="800" b="0" i="0">
                <a:solidFill>
                  <a:srgbClr val="FFFFFF"/>
                </a:solidFill>
                <a:latin typeface="Helvetica"/>
              </a:defRPr>
            </a:pPr>
            <a:r>
              <a:t>CONFIDENTIAL</a:t>
            </a:r>
          </a:p>
        </p:txBody>
      </p:sp>
      <p:sp>
        <p:nvSpPr>
          <p:cNvPr id="6" name="TextBox 5"/>
          <p:cNvSpPr txBox="1"/>
          <p:nvPr/>
        </p:nvSpPr>
        <p:spPr>
          <a:xfrm>
            <a:off x="5943600" y="256032"/>
            <a:ext cx="1554480" cy="164592"/>
          </a:xfrm>
          <a:prstGeom prst="rect">
            <a:avLst/>
          </a:prstGeom>
          <a:noFill/>
        </p:spPr>
        <p:txBody>
          <a:bodyPr wrap="square" lIns="0" rIns="0" tIns="0" bIns="0"/>
          <a:lstStyle/>
          <a:p>
            <a:pPr algn="r">
              <a:defRPr sz="800" b="0" i="0">
                <a:solidFill>
                  <a:srgbClr val="FFFFFF"/>
                </a:solidFill>
                <a:latin typeface="Helvetica"/>
              </a:defRPr>
            </a:pPr>
            <a:r>
              <a:t>April 2026</a:t>
            </a:r>
          </a:p>
        </p:txBody>
      </p:sp>
      <p:sp>
        <p:nvSpPr>
          <p:cNvPr id="7" name="TextBox 6"/>
          <p:cNvSpPr txBox="1"/>
          <p:nvPr/>
        </p:nvSpPr>
        <p:spPr>
          <a:xfrm>
            <a:off x="685800" y="685800"/>
            <a:ext cx="6400800" cy="457200"/>
          </a:xfrm>
          <a:prstGeom prst="rect">
            <a:avLst/>
          </a:prstGeom>
          <a:noFill/>
        </p:spPr>
        <p:txBody>
          <a:bodyPr wrap="square" lIns="0" rIns="0" tIns="0" bIns="0"/>
          <a:lstStyle/>
          <a:p>
            <a:pPr algn="l">
              <a:defRPr sz="1500" b="1" i="0">
                <a:solidFill>
                  <a:srgbClr val="00A2C2"/>
                </a:solidFill>
                <a:latin typeface="Helvetica"/>
              </a:defRPr>
            </a:pPr>
            <a:r>
              <a:t>Hypothesis 3: Intelligent Tax Report Retrieval — Natural Language File Discovery</a:t>
            </a:r>
          </a:p>
        </p:txBody>
      </p:sp>
      <p:sp>
        <p:nvSpPr>
          <p:cNvPr id="8" name="Rectangle 7"/>
          <p:cNvSpPr/>
          <p:nvPr/>
        </p:nvSpPr>
        <p:spPr>
          <a:xfrm>
            <a:off x="3200400" y="1188720"/>
            <a:ext cx="914400" cy="1905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371600"/>
            <a:ext cx="3063240" cy="1117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1371600"/>
            <a:ext cx="25400" cy="11176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1447800"/>
            <a:ext cx="2860040" cy="164592"/>
          </a:xfrm>
          <a:prstGeom prst="rect">
            <a:avLst/>
          </a:prstGeom>
          <a:noFill/>
        </p:spPr>
        <p:txBody>
          <a:bodyPr wrap="square" lIns="0" rIns="0" tIns="0" bIns="0"/>
          <a:lstStyle/>
          <a:p>
            <a:pPr algn="l">
              <a:defRPr sz="800" b="1" i="0">
                <a:solidFill>
                  <a:srgbClr val="214E6D"/>
                </a:solidFill>
                <a:latin typeface="Helvetica"/>
              </a:defRPr>
            </a:pPr>
            <a:r>
              <a:t>ESTIMATED TIMELINE</a:t>
            </a:r>
          </a:p>
        </p:txBody>
      </p:sp>
      <p:sp>
        <p:nvSpPr>
          <p:cNvPr id="12" name="TextBox 11"/>
          <p:cNvSpPr txBox="1"/>
          <p:nvPr/>
        </p:nvSpPr>
        <p:spPr>
          <a:xfrm>
            <a:off x="787400" y="1651000"/>
            <a:ext cx="2860040" cy="762000"/>
          </a:xfrm>
          <a:prstGeom prst="rect">
            <a:avLst/>
          </a:prstGeom>
          <a:noFill/>
        </p:spPr>
        <p:txBody>
          <a:bodyPr wrap="square" lIns="0" rIns="0" tIns="0" bIns="0"/>
          <a:lstStyle/>
          <a:p>
            <a:pPr algn="l">
              <a:defRPr sz="900" b="0" i="0">
                <a:solidFill>
                  <a:srgbClr val="53565A"/>
                </a:solidFill>
                <a:latin typeface="Helvetica"/>
              </a:defRPr>
            </a:pPr>
            <a:r>
              <a:t>Build: hours. Testing/refinement: 1 week. Total: ~1–2 weeks.</a:t>
            </a:r>
          </a:p>
        </p:txBody>
      </p:sp>
      <p:sp>
        <p:nvSpPr>
          <p:cNvPr id="13" name="Rectangle 12"/>
          <p:cNvSpPr/>
          <p:nvPr/>
        </p:nvSpPr>
        <p:spPr>
          <a:xfrm>
            <a:off x="4023360" y="1371600"/>
            <a:ext cx="3063240" cy="1117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23360" y="1371600"/>
            <a:ext cx="25400" cy="11176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24960" y="1447800"/>
            <a:ext cx="2860040" cy="164592"/>
          </a:xfrm>
          <a:prstGeom prst="rect">
            <a:avLst/>
          </a:prstGeom>
          <a:noFill/>
        </p:spPr>
        <p:txBody>
          <a:bodyPr wrap="square" lIns="0" rIns="0" tIns="0" bIns="0"/>
          <a:lstStyle/>
          <a:p>
            <a:pPr algn="l">
              <a:defRPr sz="800" b="1" i="0">
                <a:solidFill>
                  <a:srgbClr val="214E6D"/>
                </a:solidFill>
                <a:latin typeface="Helvetica"/>
              </a:defRPr>
            </a:pPr>
            <a:r>
              <a:t>TOOLING REQUIRED</a:t>
            </a:r>
          </a:p>
        </p:txBody>
      </p:sp>
      <p:sp>
        <p:nvSpPr>
          <p:cNvPr id="16" name="TextBox 15"/>
          <p:cNvSpPr txBox="1"/>
          <p:nvPr/>
        </p:nvSpPr>
        <p:spPr>
          <a:xfrm>
            <a:off x="4124960" y="1651000"/>
            <a:ext cx="2860040" cy="762000"/>
          </a:xfrm>
          <a:prstGeom prst="rect">
            <a:avLst/>
          </a:prstGeom>
          <a:noFill/>
        </p:spPr>
        <p:txBody>
          <a:bodyPr wrap="square" lIns="0" rIns="0" tIns="0" bIns="0"/>
          <a:lstStyle/>
          <a:p>
            <a:pPr algn="l">
              <a:defRPr sz="900" b="0" i="0">
                <a:solidFill>
                  <a:srgbClr val="53565A"/>
                </a:solidFill>
                <a:latin typeface="Helvetica"/>
              </a:defRPr>
            </a:pPr>
            <a:r>
              <a:t>Claude Cowork (NLP parsing/orchestration), Python (file system search, pattern matching), network drive access, simple UI or conversational interface.</a:t>
            </a:r>
          </a:p>
        </p:txBody>
      </p:sp>
      <p:sp>
        <p:nvSpPr>
          <p:cNvPr id="17" name="Rectangle 16"/>
          <p:cNvSpPr/>
          <p:nvPr/>
        </p:nvSpPr>
        <p:spPr>
          <a:xfrm>
            <a:off x="685800" y="2626360"/>
            <a:ext cx="6400800" cy="1422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40424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000" y="2702560"/>
            <a:ext cx="1127760" cy="1270000"/>
          </a:xfrm>
          <a:prstGeom prst="rect">
            <a:avLst/>
          </a:prstGeom>
          <a:noFill/>
        </p:spPr>
        <p:txBody>
          <a:bodyPr wrap="square" lIns="0" rIns="0" tIns="0" bIns="0"/>
          <a:lstStyle/>
          <a:p>
            <a:pPr algn="l">
              <a:defRPr sz="900" b="1" i="0">
                <a:solidFill>
                  <a:srgbClr val="214E6D"/>
                </a:solidFill>
                <a:latin typeface="Helvetica"/>
              </a:defRPr>
            </a:pPr>
            <a:r>
              <a:t>Problem / Workflow</a:t>
            </a:r>
          </a:p>
        </p:txBody>
      </p:sp>
      <p:sp>
        <p:nvSpPr>
          <p:cNvPr id="20" name="TextBox 19"/>
          <p:cNvSpPr txBox="1"/>
          <p:nvPr/>
        </p:nvSpPr>
        <p:spPr>
          <a:xfrm>
            <a:off x="2042160" y="2702560"/>
            <a:ext cx="4968240" cy="1270000"/>
          </a:xfrm>
          <a:prstGeom prst="rect">
            <a:avLst/>
          </a:prstGeom>
          <a:noFill/>
        </p:spPr>
        <p:txBody>
          <a:bodyPr wrap="square" lIns="0" rIns="0" tIns="0" bIns="0"/>
          <a:lstStyle/>
          <a:p>
            <a:pPr algn="l">
              <a:defRPr sz="950" b="0" i="0">
                <a:solidFill>
                  <a:srgbClr val="53565A"/>
                </a:solidFill>
                <a:latin typeface="Helvetica"/>
              </a:defRPr>
            </a:pPr>
            <a:r>
              <a:t>ETI's REMIC tax reporting workflow requires analysts to locate and retrieve specific tax reports from a network drive containing 10,000–20,000 files. The current process relies on large, clunky VBA-driven spreadsheets that are brittle, difficult to maintain, and opaque to anyone but the original author. Reports follow a structured naming convention ({EIN}_{Year}_{Quarter}_{DealName}.ext) but the VBA tools offer no flexibility — analysts still navigate folder structures manually and copy files one by one when the macros break or can't handle edge cases.</a:t>
            </a:r>
          </a:p>
        </p:txBody>
      </p:sp>
      <p:sp>
        <p:nvSpPr>
          <p:cNvPr id="21" name="Rectangle 20"/>
          <p:cNvSpPr/>
          <p:nvPr/>
        </p:nvSpPr>
        <p:spPr>
          <a:xfrm>
            <a:off x="685800" y="4048760"/>
            <a:ext cx="6400800" cy="1066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51092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000" y="4124960"/>
            <a:ext cx="1127760" cy="914400"/>
          </a:xfrm>
          <a:prstGeom prst="rect">
            <a:avLst/>
          </a:prstGeom>
          <a:noFill/>
        </p:spPr>
        <p:txBody>
          <a:bodyPr wrap="square" lIns="0" rIns="0" tIns="0" bIns="0"/>
          <a:lstStyle/>
          <a:p>
            <a:pPr algn="l">
              <a:defRPr sz="900" b="1" i="0">
                <a:solidFill>
                  <a:srgbClr val="214E6D"/>
                </a:solidFill>
                <a:latin typeface="Helvetica"/>
              </a:defRPr>
            </a:pPr>
            <a:r>
              <a:t>AI Intervention</a:t>
            </a:r>
          </a:p>
        </p:txBody>
      </p:sp>
      <p:sp>
        <p:nvSpPr>
          <p:cNvPr id="24" name="TextBox 23"/>
          <p:cNvSpPr txBox="1"/>
          <p:nvPr/>
        </p:nvSpPr>
        <p:spPr>
          <a:xfrm>
            <a:off x="2042160" y="4124960"/>
            <a:ext cx="4968240" cy="914400"/>
          </a:xfrm>
          <a:prstGeom prst="rect">
            <a:avLst/>
          </a:prstGeom>
          <a:noFill/>
        </p:spPr>
        <p:txBody>
          <a:bodyPr wrap="square" lIns="0" rIns="0" tIns="0" bIns="0"/>
          <a:lstStyle/>
          <a:p>
            <a:pPr algn="l">
              <a:defRPr sz="950" b="0" i="0">
                <a:solidFill>
                  <a:srgbClr val="53565A"/>
                </a:solidFill>
                <a:latin typeface="Helvetica"/>
              </a:defRPr>
            </a:pPr>
            <a:r>
              <a:t>Build an AI-powered retrieval tool that allows analysts to request tax reports using natural language. The tool would parse conversational requests to extract EINs, tax year, quarter, deal names, and file types, search the network drive, present matched files with a preview before copying, and handle batch operations, partial matches, and edge cases.</a:t>
            </a:r>
          </a:p>
        </p:txBody>
      </p:sp>
      <p:sp>
        <p:nvSpPr>
          <p:cNvPr id="25" name="Rectangle 24"/>
          <p:cNvSpPr/>
          <p:nvPr/>
        </p:nvSpPr>
        <p:spPr>
          <a:xfrm>
            <a:off x="685800" y="5115560"/>
            <a:ext cx="6400800" cy="1066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61760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2000" y="5191760"/>
            <a:ext cx="1127760" cy="914400"/>
          </a:xfrm>
          <a:prstGeom prst="rect">
            <a:avLst/>
          </a:prstGeom>
          <a:noFill/>
        </p:spPr>
        <p:txBody>
          <a:bodyPr wrap="square" lIns="0" rIns="0" tIns="0" bIns="0"/>
          <a:lstStyle/>
          <a:p>
            <a:pPr algn="l">
              <a:defRPr sz="900" b="1" i="0">
                <a:solidFill>
                  <a:srgbClr val="214E6D"/>
                </a:solidFill>
                <a:latin typeface="Helvetica"/>
              </a:defRPr>
            </a:pPr>
            <a:r>
              <a:t>Expected Value</a:t>
            </a:r>
          </a:p>
        </p:txBody>
      </p:sp>
      <p:sp>
        <p:nvSpPr>
          <p:cNvPr id="28" name="TextBox 27"/>
          <p:cNvSpPr txBox="1"/>
          <p:nvPr/>
        </p:nvSpPr>
        <p:spPr>
          <a:xfrm>
            <a:off x="2042160" y="5191760"/>
            <a:ext cx="4968240" cy="914400"/>
          </a:xfrm>
          <a:prstGeom prst="rect">
            <a:avLst/>
          </a:prstGeom>
          <a:noFill/>
        </p:spPr>
        <p:txBody>
          <a:bodyPr wrap="square" lIns="0" rIns="0" tIns="0" bIns="0"/>
          <a:lstStyle/>
          <a:p>
            <a:pPr algn="l">
              <a:defRPr sz="950" b="0" i="0">
                <a:solidFill>
                  <a:srgbClr val="53565A"/>
                </a:solidFill>
                <a:latin typeface="Helvetica"/>
              </a:defRPr>
            </a:pPr>
            <a:r>
              <a:t>Replaces fragile VBA spreadsheets with a modern, maintainable tool. Reduces a multi-minute file retrieval task to a single natural language request. Eliminates navigation errors and missed files. Handles batch operations that would otherwise require repetitive manual effort. Frees analyst time for higher-value tax analysis work.</a:t>
            </a:r>
          </a:p>
        </p:txBody>
      </p:sp>
      <p:sp>
        <p:nvSpPr>
          <p:cNvPr id="29" name="Rectangle 28"/>
          <p:cNvSpPr/>
          <p:nvPr/>
        </p:nvSpPr>
        <p:spPr>
          <a:xfrm>
            <a:off x="685800" y="6182360"/>
            <a:ext cx="6400800" cy="889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70650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2000" y="6258560"/>
            <a:ext cx="1127760" cy="736600"/>
          </a:xfrm>
          <a:prstGeom prst="rect">
            <a:avLst/>
          </a:prstGeom>
          <a:noFill/>
        </p:spPr>
        <p:txBody>
          <a:bodyPr wrap="square" lIns="0" rIns="0" tIns="0" bIns="0"/>
          <a:lstStyle/>
          <a:p>
            <a:pPr algn="l">
              <a:defRPr sz="900" b="1" i="0">
                <a:solidFill>
                  <a:srgbClr val="214E6D"/>
                </a:solidFill>
                <a:latin typeface="Helvetica"/>
              </a:defRPr>
            </a:pPr>
            <a:r>
              <a:t>Implementation</a:t>
            </a:r>
            <a:br/>
            <a:r>
              <a:t>Considerations</a:t>
            </a:r>
          </a:p>
        </p:txBody>
      </p:sp>
      <p:sp>
        <p:nvSpPr>
          <p:cNvPr id="32" name="TextBox 31"/>
          <p:cNvSpPr txBox="1"/>
          <p:nvPr/>
        </p:nvSpPr>
        <p:spPr>
          <a:xfrm>
            <a:off x="2042160" y="6258560"/>
            <a:ext cx="4968240" cy="736600"/>
          </a:xfrm>
          <a:prstGeom prst="rect">
            <a:avLst/>
          </a:prstGeom>
          <a:noFill/>
        </p:spPr>
        <p:txBody>
          <a:bodyPr wrap="square" lIns="0" rIns="0" tIns="0" bIns="0"/>
          <a:lstStyle/>
          <a:p>
            <a:pPr algn="l">
              <a:defRPr sz="950" b="0" i="0">
                <a:solidFill>
                  <a:srgbClr val="53565A"/>
                </a:solidFill>
                <a:latin typeface="Helvetica"/>
              </a:defRPr>
            </a:pPr>
            <a:r>
              <a:t>File naming convention is well-structured, making parsing reliable. Network drive access and permissions must be accounted for. Edge cases include duplicate deal names and missing quarterly files. A dry-run preview step before copying adds a safety layer.</a:t>
            </a:r>
          </a:p>
        </p:txBody>
      </p:sp>
      <p:sp>
        <p:nvSpPr>
          <p:cNvPr id="33" name="Rectangle 32"/>
          <p:cNvSpPr/>
          <p:nvPr/>
        </p:nvSpPr>
        <p:spPr>
          <a:xfrm>
            <a:off x="685800" y="7071360"/>
            <a:ext cx="6400800" cy="1066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5800" y="81318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2000" y="7147560"/>
            <a:ext cx="1127760" cy="914400"/>
          </a:xfrm>
          <a:prstGeom prst="rect">
            <a:avLst/>
          </a:prstGeom>
          <a:noFill/>
        </p:spPr>
        <p:txBody>
          <a:bodyPr wrap="square" lIns="0" rIns="0" tIns="0" bIns="0"/>
          <a:lstStyle/>
          <a:p>
            <a:pPr algn="l">
              <a:defRPr sz="900" b="1" i="0">
                <a:solidFill>
                  <a:srgbClr val="214E6D"/>
                </a:solidFill>
                <a:latin typeface="Helvetica"/>
              </a:defRPr>
            </a:pPr>
            <a:r>
              <a:t>Why It Merits</a:t>
            </a:r>
            <a:br/>
            <a:r>
              <a:t>Incubation</a:t>
            </a:r>
          </a:p>
        </p:txBody>
      </p:sp>
      <p:sp>
        <p:nvSpPr>
          <p:cNvPr id="36" name="TextBox 35"/>
          <p:cNvSpPr txBox="1"/>
          <p:nvPr/>
        </p:nvSpPr>
        <p:spPr>
          <a:xfrm>
            <a:off x="2042160" y="7147560"/>
            <a:ext cx="4968240" cy="914400"/>
          </a:xfrm>
          <a:prstGeom prst="rect">
            <a:avLst/>
          </a:prstGeom>
          <a:noFill/>
        </p:spPr>
        <p:txBody>
          <a:bodyPr wrap="square" lIns="0" rIns="0" tIns="0" bIns="0"/>
          <a:lstStyle/>
          <a:p>
            <a:pPr algn="l">
              <a:defRPr sz="950" b="0" i="0">
                <a:solidFill>
                  <a:srgbClr val="53565A"/>
                </a:solidFill>
                <a:latin typeface="Helvetica"/>
              </a:defRPr>
            </a:pPr>
            <a:r>
              <a:t>Shortest path to a working demonstration among all hypotheses. Replaces an aging VBA dependency with a modern, transparent solution. Immediate, tangible time savings with minimal change management. Demonstrates the 'AI skill' model for automating routine file operations — replicable across the business. Low complexity relative to impact.</a:t>
            </a:r>
          </a:p>
        </p:txBody>
      </p:sp>
      <p:sp>
        <p:nvSpPr>
          <p:cNvPr id="37" name="Rectangle 36"/>
          <p:cNvSpPr/>
          <p:nvPr/>
        </p:nvSpPr>
        <p:spPr>
          <a:xfrm>
            <a:off x="685800" y="9326880"/>
            <a:ext cx="914400" cy="127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9418320"/>
            <a:ext cx="2743200" cy="182880"/>
          </a:xfrm>
          <a:prstGeom prst="rect">
            <a:avLst/>
          </a:prstGeom>
          <a:noFill/>
        </p:spPr>
        <p:txBody>
          <a:bodyPr wrap="square" lIns="0" rIns="0" tIns="0" bIns="0"/>
          <a:lstStyle/>
          <a:p>
            <a:pPr algn="l">
              <a:defRPr sz="700" b="0" i="0">
                <a:solidFill>
                  <a:srgbClr val="53565A"/>
                </a:solidFill>
                <a:latin typeface="Helvetica"/>
              </a:defRPr>
            </a:pPr>
            <a:r>
              <a:t>CONFIDENTIAL — DRAFT FOR DISCUSSION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548640"/>
          </a:xfrm>
          <a:prstGeom prst="rect">
            <a:avLst/>
          </a:prstGeom>
          <a:solidFill>
            <a:srgbClr val="214E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corian_logo_white.png"/>
          <p:cNvPicPr>
            <a:picLocks noChangeAspect="1"/>
          </p:cNvPicPr>
          <p:nvPr/>
        </p:nvPicPr>
        <p:blipFill>
          <a:blip r:embed="rId2"/>
          <a:stretch>
            <a:fillRect/>
          </a:stretch>
        </p:blipFill>
        <p:spPr>
          <a:xfrm>
            <a:off x="274320" y="164592"/>
            <a:ext cx="914400" cy="109728"/>
          </a:xfrm>
          <a:prstGeom prst="rect">
            <a:avLst/>
          </a:prstGeom>
        </p:spPr>
      </p:pic>
      <p:sp>
        <p:nvSpPr>
          <p:cNvPr id="4" name="TextBox 3"/>
          <p:cNvSpPr txBox="1"/>
          <p:nvPr/>
        </p:nvSpPr>
        <p:spPr>
          <a:xfrm>
            <a:off x="1371600" y="109728"/>
            <a:ext cx="5029200" cy="365760"/>
          </a:xfrm>
          <a:prstGeom prst="rect">
            <a:avLst/>
          </a:prstGeom>
          <a:noFill/>
        </p:spPr>
        <p:txBody>
          <a:bodyPr wrap="square" lIns="0" rIns="0" tIns="0" bIns="0"/>
          <a:lstStyle/>
          <a:p>
            <a:pPr algn="ctr">
              <a:defRPr sz="1400" b="1" i="0">
                <a:solidFill>
                  <a:srgbClr val="FFFFFF"/>
                </a:solidFill>
                <a:latin typeface="Helvetica"/>
              </a:defRPr>
            </a:pPr>
            <a:r>
              <a:t>Hypothesis 4</a:t>
            </a:r>
          </a:p>
        </p:txBody>
      </p:sp>
      <p:sp>
        <p:nvSpPr>
          <p:cNvPr id="5" name="TextBox 4"/>
          <p:cNvSpPr txBox="1"/>
          <p:nvPr/>
        </p:nvSpPr>
        <p:spPr>
          <a:xfrm>
            <a:off x="5943600" y="91440"/>
            <a:ext cx="1554480" cy="164592"/>
          </a:xfrm>
          <a:prstGeom prst="rect">
            <a:avLst/>
          </a:prstGeom>
          <a:noFill/>
        </p:spPr>
        <p:txBody>
          <a:bodyPr wrap="square" lIns="0" rIns="0" tIns="0" bIns="0"/>
          <a:lstStyle/>
          <a:p>
            <a:pPr algn="r">
              <a:defRPr sz="800" b="0" i="0">
                <a:solidFill>
                  <a:srgbClr val="FFFFFF"/>
                </a:solidFill>
                <a:latin typeface="Helvetica"/>
              </a:defRPr>
            </a:pPr>
            <a:r>
              <a:t>CONFIDENTIAL</a:t>
            </a:r>
          </a:p>
        </p:txBody>
      </p:sp>
      <p:sp>
        <p:nvSpPr>
          <p:cNvPr id="6" name="TextBox 5"/>
          <p:cNvSpPr txBox="1"/>
          <p:nvPr/>
        </p:nvSpPr>
        <p:spPr>
          <a:xfrm>
            <a:off x="5943600" y="256032"/>
            <a:ext cx="1554480" cy="164592"/>
          </a:xfrm>
          <a:prstGeom prst="rect">
            <a:avLst/>
          </a:prstGeom>
          <a:noFill/>
        </p:spPr>
        <p:txBody>
          <a:bodyPr wrap="square" lIns="0" rIns="0" tIns="0" bIns="0"/>
          <a:lstStyle/>
          <a:p>
            <a:pPr algn="r">
              <a:defRPr sz="800" b="0" i="0">
                <a:solidFill>
                  <a:srgbClr val="FFFFFF"/>
                </a:solidFill>
                <a:latin typeface="Helvetica"/>
              </a:defRPr>
            </a:pPr>
            <a:r>
              <a:t>April 2026</a:t>
            </a:r>
          </a:p>
        </p:txBody>
      </p:sp>
      <p:sp>
        <p:nvSpPr>
          <p:cNvPr id="7" name="TextBox 6"/>
          <p:cNvSpPr txBox="1"/>
          <p:nvPr/>
        </p:nvSpPr>
        <p:spPr>
          <a:xfrm>
            <a:off x="685800" y="685800"/>
            <a:ext cx="6400800" cy="457200"/>
          </a:xfrm>
          <a:prstGeom prst="rect">
            <a:avLst/>
          </a:prstGeom>
          <a:noFill/>
        </p:spPr>
        <p:txBody>
          <a:bodyPr wrap="square" lIns="0" rIns="0" tIns="0" bIns="0"/>
          <a:lstStyle/>
          <a:p>
            <a:pPr algn="l">
              <a:defRPr sz="1500" b="1" i="0">
                <a:solidFill>
                  <a:srgbClr val="00A2C2"/>
                </a:solidFill>
                <a:latin typeface="Helvetica"/>
              </a:defRPr>
            </a:pPr>
            <a:r>
              <a:t>Hypothesis 4 (Bonus): Debt Domain Upload Automation — 'Cato's Pet Peeve'</a:t>
            </a:r>
          </a:p>
        </p:txBody>
      </p:sp>
      <p:sp>
        <p:nvSpPr>
          <p:cNvPr id="8" name="Rectangle 7"/>
          <p:cNvSpPr/>
          <p:nvPr/>
        </p:nvSpPr>
        <p:spPr>
          <a:xfrm>
            <a:off x="3200400" y="1188720"/>
            <a:ext cx="914400" cy="1905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371600"/>
            <a:ext cx="3063240" cy="1117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1371600"/>
            <a:ext cx="25400" cy="11176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1447800"/>
            <a:ext cx="2860040" cy="164592"/>
          </a:xfrm>
          <a:prstGeom prst="rect">
            <a:avLst/>
          </a:prstGeom>
          <a:noFill/>
        </p:spPr>
        <p:txBody>
          <a:bodyPr wrap="square" lIns="0" rIns="0" tIns="0" bIns="0"/>
          <a:lstStyle/>
          <a:p>
            <a:pPr algn="l">
              <a:defRPr sz="800" b="1" i="0">
                <a:solidFill>
                  <a:srgbClr val="214E6D"/>
                </a:solidFill>
                <a:latin typeface="Helvetica"/>
              </a:defRPr>
            </a:pPr>
            <a:r>
              <a:t>ESTIMATED TIMELINE</a:t>
            </a:r>
          </a:p>
        </p:txBody>
      </p:sp>
      <p:sp>
        <p:nvSpPr>
          <p:cNvPr id="12" name="TextBox 11"/>
          <p:cNvSpPr txBox="1"/>
          <p:nvPr/>
        </p:nvSpPr>
        <p:spPr>
          <a:xfrm>
            <a:off x="787400" y="1651000"/>
            <a:ext cx="2860040" cy="762000"/>
          </a:xfrm>
          <a:prstGeom prst="rect">
            <a:avLst/>
          </a:prstGeom>
          <a:noFill/>
        </p:spPr>
        <p:txBody>
          <a:bodyPr wrap="square" lIns="0" rIns="0" tIns="0" bIns="0"/>
          <a:lstStyle/>
          <a:p>
            <a:pPr algn="l">
              <a:defRPr sz="900" b="0" i="0">
                <a:solidFill>
                  <a:srgbClr val="53565A"/>
                </a:solidFill>
                <a:latin typeface="Helvetica"/>
              </a:defRPr>
            </a:pPr>
            <a:r>
              <a:t>Build: 2–3 days. Validation/exception handling: 1–2 weeks. Total: ~2–3 weeks.</a:t>
            </a:r>
          </a:p>
        </p:txBody>
      </p:sp>
      <p:sp>
        <p:nvSpPr>
          <p:cNvPr id="13" name="Rectangle 12"/>
          <p:cNvSpPr/>
          <p:nvPr/>
        </p:nvSpPr>
        <p:spPr>
          <a:xfrm>
            <a:off x="4023360" y="1371600"/>
            <a:ext cx="3063240" cy="1117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23360" y="1371600"/>
            <a:ext cx="25400" cy="11176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24960" y="1447800"/>
            <a:ext cx="2860040" cy="164592"/>
          </a:xfrm>
          <a:prstGeom prst="rect">
            <a:avLst/>
          </a:prstGeom>
          <a:noFill/>
        </p:spPr>
        <p:txBody>
          <a:bodyPr wrap="square" lIns="0" rIns="0" tIns="0" bIns="0"/>
          <a:lstStyle/>
          <a:p>
            <a:pPr algn="l">
              <a:defRPr sz="800" b="1" i="0">
                <a:solidFill>
                  <a:srgbClr val="214E6D"/>
                </a:solidFill>
                <a:latin typeface="Helvetica"/>
              </a:defRPr>
            </a:pPr>
            <a:r>
              <a:t>TOOLING REQUIRED</a:t>
            </a:r>
          </a:p>
        </p:txBody>
      </p:sp>
      <p:sp>
        <p:nvSpPr>
          <p:cNvPr id="16" name="TextBox 15"/>
          <p:cNvSpPr txBox="1"/>
          <p:nvPr/>
        </p:nvSpPr>
        <p:spPr>
          <a:xfrm>
            <a:off x="4124960" y="1651000"/>
            <a:ext cx="2860040" cy="762000"/>
          </a:xfrm>
          <a:prstGeom prst="rect">
            <a:avLst/>
          </a:prstGeom>
          <a:noFill/>
        </p:spPr>
        <p:txBody>
          <a:bodyPr wrap="square" lIns="0" rIns="0" tIns="0" bIns="0"/>
          <a:lstStyle/>
          <a:p>
            <a:pPr algn="l">
              <a:defRPr sz="900" b="0" i="0">
                <a:solidFill>
                  <a:srgbClr val="53565A"/>
                </a:solidFill>
                <a:latin typeface="Helvetica"/>
              </a:defRPr>
            </a:pPr>
            <a:r>
              <a:t>Claude Cowork (browser automation), Debt Domain platform access and credentials, standardized folder structure, metadata field mapping documentation.</a:t>
            </a:r>
          </a:p>
        </p:txBody>
      </p:sp>
      <p:sp>
        <p:nvSpPr>
          <p:cNvPr id="17" name="Rectangle 16"/>
          <p:cNvSpPr/>
          <p:nvPr/>
        </p:nvSpPr>
        <p:spPr>
          <a:xfrm>
            <a:off x="685800" y="2626360"/>
            <a:ext cx="6400800" cy="1244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8646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2000" y="2702560"/>
            <a:ext cx="1127760" cy="1092200"/>
          </a:xfrm>
          <a:prstGeom prst="rect">
            <a:avLst/>
          </a:prstGeom>
          <a:noFill/>
        </p:spPr>
        <p:txBody>
          <a:bodyPr wrap="square" lIns="0" rIns="0" tIns="0" bIns="0"/>
          <a:lstStyle/>
          <a:p>
            <a:pPr algn="l">
              <a:defRPr sz="900" b="1" i="0">
                <a:solidFill>
                  <a:srgbClr val="214E6D"/>
                </a:solidFill>
                <a:latin typeface="Helvetica"/>
              </a:defRPr>
            </a:pPr>
            <a:r>
              <a:t>Problem / Workflow</a:t>
            </a:r>
          </a:p>
        </p:txBody>
      </p:sp>
      <p:sp>
        <p:nvSpPr>
          <p:cNvPr id="20" name="TextBox 19"/>
          <p:cNvSpPr txBox="1"/>
          <p:nvPr/>
        </p:nvSpPr>
        <p:spPr>
          <a:xfrm>
            <a:off x="2042160" y="2702560"/>
            <a:ext cx="4968240" cy="1092200"/>
          </a:xfrm>
          <a:prstGeom prst="rect">
            <a:avLst/>
          </a:prstGeom>
          <a:noFill/>
        </p:spPr>
        <p:txBody>
          <a:bodyPr wrap="square" lIns="0" rIns="0" tIns="0" bIns="0"/>
          <a:lstStyle/>
          <a:p>
            <a:pPr algn="l">
              <a:defRPr sz="950" b="0" i="0">
                <a:solidFill>
                  <a:srgbClr val="53565A"/>
                </a:solidFill>
                <a:latin typeface="Helvetica"/>
              </a:defRPr>
            </a:pPr>
            <a:r>
              <a:t>Analysts within the Nordic Trustee business spend significant time manually uploading and processing deal documents into Debt Domain, a deal management platform. The process involves navigating the browser interface, selecting files from folders, uploading them, entering metadata, and repeating across many deals. This burns analyst hours on low-value work and is a widely recognized pain point within the team.</a:t>
            </a:r>
          </a:p>
        </p:txBody>
      </p:sp>
      <p:sp>
        <p:nvSpPr>
          <p:cNvPr id="21" name="Rectangle 20"/>
          <p:cNvSpPr/>
          <p:nvPr/>
        </p:nvSpPr>
        <p:spPr>
          <a:xfrm>
            <a:off x="685800" y="3870960"/>
            <a:ext cx="6400800" cy="16002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54648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000" y="3947160"/>
            <a:ext cx="1127760" cy="1447800"/>
          </a:xfrm>
          <a:prstGeom prst="rect">
            <a:avLst/>
          </a:prstGeom>
          <a:noFill/>
        </p:spPr>
        <p:txBody>
          <a:bodyPr wrap="square" lIns="0" rIns="0" tIns="0" bIns="0"/>
          <a:lstStyle/>
          <a:p>
            <a:pPr algn="l">
              <a:defRPr sz="900" b="1" i="0">
                <a:solidFill>
                  <a:srgbClr val="214E6D"/>
                </a:solidFill>
                <a:latin typeface="Helvetica"/>
              </a:defRPr>
            </a:pPr>
            <a:r>
              <a:t>AI Intervention</a:t>
            </a:r>
          </a:p>
        </p:txBody>
      </p:sp>
      <p:sp>
        <p:nvSpPr>
          <p:cNvPr id="24" name="TextBox 23"/>
          <p:cNvSpPr txBox="1"/>
          <p:nvPr/>
        </p:nvSpPr>
        <p:spPr>
          <a:xfrm>
            <a:off x="2042160" y="3947160"/>
            <a:ext cx="4968240" cy="1447800"/>
          </a:xfrm>
          <a:prstGeom prst="rect">
            <a:avLst/>
          </a:prstGeom>
          <a:noFill/>
        </p:spPr>
        <p:txBody>
          <a:bodyPr wrap="square" lIns="0" rIns="0" tIns="0" bIns="0"/>
          <a:lstStyle/>
          <a:p>
            <a:pPr algn="l">
              <a:defRPr sz="950" b="0" i="0">
                <a:solidFill>
                  <a:srgbClr val="53565A"/>
                </a:solidFill>
                <a:latin typeface="Helvetica"/>
              </a:defRPr>
            </a:pPr>
            <a:r>
              <a:t>Use Claude Cowork browser automation to build a prototype that automates the repetitive upload workflow: open Debt Domain, navigate to the correct page, select and upload files from specified folders, populate metadata fields, and repeat across multiple deals. Target the initial prototype at a single document type and standard folder structure. In parallel, explore whether DebtDomain offers vendor-supported integration options or structured import capabilities within S&amp;P Global's loan platform stack that could provide a more stable long-term alternative to browser automation.</a:t>
            </a:r>
          </a:p>
        </p:txBody>
      </p:sp>
      <p:sp>
        <p:nvSpPr>
          <p:cNvPr id="25" name="Rectangle 24"/>
          <p:cNvSpPr/>
          <p:nvPr/>
        </p:nvSpPr>
        <p:spPr>
          <a:xfrm>
            <a:off x="685800" y="5471160"/>
            <a:ext cx="6400800" cy="711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61760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2000" y="5547360"/>
            <a:ext cx="1127760" cy="558800"/>
          </a:xfrm>
          <a:prstGeom prst="rect">
            <a:avLst/>
          </a:prstGeom>
          <a:noFill/>
        </p:spPr>
        <p:txBody>
          <a:bodyPr wrap="square" lIns="0" rIns="0" tIns="0" bIns="0"/>
          <a:lstStyle/>
          <a:p>
            <a:pPr algn="l">
              <a:defRPr sz="900" b="1" i="0">
                <a:solidFill>
                  <a:srgbClr val="214E6D"/>
                </a:solidFill>
                <a:latin typeface="Helvetica"/>
              </a:defRPr>
            </a:pPr>
            <a:r>
              <a:t>Expected Value</a:t>
            </a:r>
          </a:p>
        </p:txBody>
      </p:sp>
      <p:sp>
        <p:nvSpPr>
          <p:cNvPr id="28" name="TextBox 27"/>
          <p:cNvSpPr txBox="1"/>
          <p:nvPr/>
        </p:nvSpPr>
        <p:spPr>
          <a:xfrm>
            <a:off x="2042160" y="5547360"/>
            <a:ext cx="4968240" cy="558800"/>
          </a:xfrm>
          <a:prstGeom prst="rect">
            <a:avLst/>
          </a:prstGeom>
          <a:noFill/>
        </p:spPr>
        <p:txBody>
          <a:bodyPr wrap="square" lIns="0" rIns="0" tIns="0" bIns="0"/>
          <a:lstStyle/>
          <a:p>
            <a:pPr algn="l">
              <a:defRPr sz="950" b="0" i="0">
                <a:solidFill>
                  <a:srgbClr val="53565A"/>
                </a:solidFill>
                <a:latin typeface="Helvetica"/>
              </a:defRPr>
            </a:pPr>
            <a:r>
              <a:t>Material reduction in analyst time on document uploads. Reclaims capacity for higher-value trustee work. Directly addresses a recognized Nordic Trustee pain point. Demonstrates measurable improvement in minutes-per-deal metrics.</a:t>
            </a:r>
          </a:p>
        </p:txBody>
      </p:sp>
      <p:sp>
        <p:nvSpPr>
          <p:cNvPr id="29" name="Rectangle 28"/>
          <p:cNvSpPr/>
          <p:nvPr/>
        </p:nvSpPr>
        <p:spPr>
          <a:xfrm>
            <a:off x="685800" y="6182360"/>
            <a:ext cx="6400800" cy="12446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74206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2000" y="6258560"/>
            <a:ext cx="1127760" cy="1092200"/>
          </a:xfrm>
          <a:prstGeom prst="rect">
            <a:avLst/>
          </a:prstGeom>
          <a:noFill/>
        </p:spPr>
        <p:txBody>
          <a:bodyPr wrap="square" lIns="0" rIns="0" tIns="0" bIns="0"/>
          <a:lstStyle/>
          <a:p>
            <a:pPr algn="l">
              <a:defRPr sz="900" b="1" i="0">
                <a:solidFill>
                  <a:srgbClr val="214E6D"/>
                </a:solidFill>
                <a:latin typeface="Helvetica"/>
              </a:defRPr>
            </a:pPr>
            <a:r>
              <a:t>Implementation</a:t>
            </a:r>
            <a:br/>
            <a:r>
              <a:t>Considerations</a:t>
            </a:r>
          </a:p>
        </p:txBody>
      </p:sp>
      <p:sp>
        <p:nvSpPr>
          <p:cNvPr id="32" name="TextBox 31"/>
          <p:cNvSpPr txBox="1"/>
          <p:nvPr/>
        </p:nvSpPr>
        <p:spPr>
          <a:xfrm>
            <a:off x="2042160" y="6258560"/>
            <a:ext cx="4968240" cy="1092200"/>
          </a:xfrm>
          <a:prstGeom prst="rect">
            <a:avLst/>
          </a:prstGeom>
          <a:noFill/>
        </p:spPr>
        <p:txBody>
          <a:bodyPr wrap="square" lIns="0" rIns="0" tIns="0" bIns="0"/>
          <a:lstStyle/>
          <a:p>
            <a:pPr algn="l">
              <a:defRPr sz="950" b="0" i="0">
                <a:solidFill>
                  <a:srgbClr val="53565A"/>
                </a:solidFill>
                <a:latin typeface="Helvetica"/>
              </a:defRPr>
            </a:pPr>
            <a:r>
              <a:t>Browser automation provides the fastest path to prototype value but is inherently tied to UI state — page layout changes, popups, and session expirations require handling. Target 60–85% of standard cases initially, with human handling of exceptions. If a vendor-supported integration route exists, that becomes the preferred production path. Start with one portal, one document type, one metadata pattern.</a:t>
            </a:r>
          </a:p>
        </p:txBody>
      </p:sp>
      <p:sp>
        <p:nvSpPr>
          <p:cNvPr id="33" name="Rectangle 32"/>
          <p:cNvSpPr/>
          <p:nvPr/>
        </p:nvSpPr>
        <p:spPr>
          <a:xfrm>
            <a:off x="685800" y="7426960"/>
            <a:ext cx="6400800" cy="1066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5800" y="8487410"/>
            <a:ext cx="6400800" cy="6350"/>
          </a:xfrm>
          <a:prstGeom prst="rect">
            <a:avLst/>
          </a:prstGeom>
          <a:solidFill>
            <a:srgbClr val="E7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2000" y="7503160"/>
            <a:ext cx="1127760" cy="914400"/>
          </a:xfrm>
          <a:prstGeom prst="rect">
            <a:avLst/>
          </a:prstGeom>
          <a:noFill/>
        </p:spPr>
        <p:txBody>
          <a:bodyPr wrap="square" lIns="0" rIns="0" tIns="0" bIns="0"/>
          <a:lstStyle/>
          <a:p>
            <a:pPr algn="l">
              <a:defRPr sz="900" b="1" i="0">
                <a:solidFill>
                  <a:srgbClr val="214E6D"/>
                </a:solidFill>
                <a:latin typeface="Helvetica"/>
              </a:defRPr>
            </a:pPr>
            <a:r>
              <a:t>Why It Merits</a:t>
            </a:r>
            <a:br/>
            <a:r>
              <a:t>Incubation</a:t>
            </a:r>
          </a:p>
        </p:txBody>
      </p:sp>
      <p:sp>
        <p:nvSpPr>
          <p:cNvPr id="36" name="TextBox 35"/>
          <p:cNvSpPr txBox="1"/>
          <p:nvPr/>
        </p:nvSpPr>
        <p:spPr>
          <a:xfrm>
            <a:off x="2042160" y="7503160"/>
            <a:ext cx="4968240" cy="914400"/>
          </a:xfrm>
          <a:prstGeom prst="rect">
            <a:avLst/>
          </a:prstGeom>
          <a:noFill/>
        </p:spPr>
        <p:txBody>
          <a:bodyPr wrap="square" lIns="0" rIns="0" tIns="0" bIns="0"/>
          <a:lstStyle/>
          <a:p>
            <a:pPr algn="l">
              <a:defRPr sz="950" b="0" i="0">
                <a:solidFill>
                  <a:srgbClr val="53565A"/>
                </a:solidFill>
                <a:latin typeface="Helvetica"/>
              </a:defRPr>
            </a:pPr>
            <a:r>
              <a:t>This hypothesis originated from a conversation with Nordic Trustee and sits within their domain. The workflow is a known pain point within their team. ETI also uses Debt Domain for deliverable retrieval, so a successful prototype would have reach across multiple divisions within Capital Markets. Operationally specific and immediately measurable. Low investment to prototype.</a:t>
            </a:r>
          </a:p>
        </p:txBody>
      </p:sp>
      <p:sp>
        <p:nvSpPr>
          <p:cNvPr id="37" name="Rectangle 36"/>
          <p:cNvSpPr/>
          <p:nvPr/>
        </p:nvSpPr>
        <p:spPr>
          <a:xfrm>
            <a:off x="685800" y="9326880"/>
            <a:ext cx="914400" cy="127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9418320"/>
            <a:ext cx="2743200" cy="182880"/>
          </a:xfrm>
          <a:prstGeom prst="rect">
            <a:avLst/>
          </a:prstGeom>
          <a:noFill/>
        </p:spPr>
        <p:txBody>
          <a:bodyPr wrap="square" lIns="0" rIns="0" tIns="0" bIns="0"/>
          <a:lstStyle/>
          <a:p>
            <a:pPr algn="l">
              <a:defRPr sz="700" b="0" i="0">
                <a:solidFill>
                  <a:srgbClr val="53565A"/>
                </a:solidFill>
                <a:latin typeface="Helvetica"/>
              </a:defRPr>
            </a:pPr>
            <a:r>
              <a:t>CONFIDENTIAL — DRAFT FOR DISCUSSION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548640"/>
          </a:xfrm>
          <a:prstGeom prst="rect">
            <a:avLst/>
          </a:prstGeom>
          <a:solidFill>
            <a:srgbClr val="214E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ocorian_logo_white.png"/>
          <p:cNvPicPr>
            <a:picLocks noChangeAspect="1"/>
          </p:cNvPicPr>
          <p:nvPr/>
        </p:nvPicPr>
        <p:blipFill>
          <a:blip r:embed="rId2"/>
          <a:stretch>
            <a:fillRect/>
          </a:stretch>
        </p:blipFill>
        <p:spPr>
          <a:xfrm>
            <a:off x="274320" y="164592"/>
            <a:ext cx="914400" cy="109728"/>
          </a:xfrm>
          <a:prstGeom prst="rect">
            <a:avLst/>
          </a:prstGeom>
        </p:spPr>
      </p:pic>
      <p:sp>
        <p:nvSpPr>
          <p:cNvPr id="4" name="TextBox 3"/>
          <p:cNvSpPr txBox="1"/>
          <p:nvPr/>
        </p:nvSpPr>
        <p:spPr>
          <a:xfrm>
            <a:off x="1371600" y="109728"/>
            <a:ext cx="5029200" cy="365760"/>
          </a:xfrm>
          <a:prstGeom prst="rect">
            <a:avLst/>
          </a:prstGeom>
          <a:noFill/>
        </p:spPr>
        <p:txBody>
          <a:bodyPr wrap="square" lIns="0" rIns="0" tIns="0" bIns="0"/>
          <a:lstStyle/>
          <a:p>
            <a:pPr algn="ctr">
              <a:defRPr sz="1400" b="1" i="0">
                <a:solidFill>
                  <a:srgbClr val="FFFFFF"/>
                </a:solidFill>
                <a:latin typeface="Helvetica"/>
              </a:defRPr>
            </a:pPr>
            <a:r>
              <a:t>Conclusion &amp; Recommendations</a:t>
            </a:r>
          </a:p>
        </p:txBody>
      </p:sp>
      <p:sp>
        <p:nvSpPr>
          <p:cNvPr id="5" name="TextBox 4"/>
          <p:cNvSpPr txBox="1"/>
          <p:nvPr/>
        </p:nvSpPr>
        <p:spPr>
          <a:xfrm>
            <a:off x="5943600" y="91440"/>
            <a:ext cx="1554480" cy="164592"/>
          </a:xfrm>
          <a:prstGeom prst="rect">
            <a:avLst/>
          </a:prstGeom>
          <a:noFill/>
        </p:spPr>
        <p:txBody>
          <a:bodyPr wrap="square" lIns="0" rIns="0" tIns="0" bIns="0"/>
          <a:lstStyle/>
          <a:p>
            <a:pPr algn="r">
              <a:defRPr sz="800" b="0" i="0">
                <a:solidFill>
                  <a:srgbClr val="FFFFFF"/>
                </a:solidFill>
                <a:latin typeface="Helvetica"/>
              </a:defRPr>
            </a:pPr>
            <a:r>
              <a:t>CONFIDENTIAL</a:t>
            </a:r>
          </a:p>
        </p:txBody>
      </p:sp>
      <p:sp>
        <p:nvSpPr>
          <p:cNvPr id="6" name="TextBox 5"/>
          <p:cNvSpPr txBox="1"/>
          <p:nvPr/>
        </p:nvSpPr>
        <p:spPr>
          <a:xfrm>
            <a:off x="5943600" y="256032"/>
            <a:ext cx="1554480" cy="164592"/>
          </a:xfrm>
          <a:prstGeom prst="rect">
            <a:avLst/>
          </a:prstGeom>
          <a:noFill/>
        </p:spPr>
        <p:txBody>
          <a:bodyPr wrap="square" lIns="0" rIns="0" tIns="0" bIns="0"/>
          <a:lstStyle/>
          <a:p>
            <a:pPr algn="r">
              <a:defRPr sz="800" b="0" i="0">
                <a:solidFill>
                  <a:srgbClr val="FFFFFF"/>
                </a:solidFill>
                <a:latin typeface="Helvetica"/>
              </a:defRPr>
            </a:pPr>
            <a:r>
              <a:t>April 2026</a:t>
            </a:r>
          </a:p>
        </p:txBody>
      </p:sp>
      <p:sp>
        <p:nvSpPr>
          <p:cNvPr id="7" name="TextBox 6"/>
          <p:cNvSpPr txBox="1"/>
          <p:nvPr/>
        </p:nvSpPr>
        <p:spPr>
          <a:xfrm>
            <a:off x="685800" y="777240"/>
            <a:ext cx="6400800" cy="365760"/>
          </a:xfrm>
          <a:prstGeom prst="rect">
            <a:avLst/>
          </a:prstGeom>
          <a:noFill/>
        </p:spPr>
        <p:txBody>
          <a:bodyPr wrap="square" lIns="0" rIns="0" tIns="0" bIns="0"/>
          <a:lstStyle/>
          <a:p>
            <a:pPr algn="l">
              <a:defRPr sz="1800" b="1" i="0">
                <a:solidFill>
                  <a:srgbClr val="00A2C2"/>
                </a:solidFill>
                <a:latin typeface="Helvetica"/>
              </a:defRPr>
            </a:pPr>
            <a:r>
              <a:t>Conclusion &amp; Recommendations</a:t>
            </a:r>
          </a:p>
        </p:txBody>
      </p:sp>
      <p:sp>
        <p:nvSpPr>
          <p:cNvPr id="8" name="Rectangle 7"/>
          <p:cNvSpPr/>
          <p:nvPr/>
        </p:nvSpPr>
        <p:spPr>
          <a:xfrm>
            <a:off x="3429000" y="1280160"/>
            <a:ext cx="914400" cy="1905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554480"/>
            <a:ext cx="6400800" cy="7772400"/>
          </a:xfrm>
          <a:prstGeom prst="rect">
            <a:avLst/>
          </a:prstGeom>
          <a:noFill/>
        </p:spPr>
        <p:txBody>
          <a:bodyPr wrap="square" lIns="0" rIns="0" tIns="0" bIns="0"/>
          <a:lstStyle/>
          <a:p>
            <a:pPr algn="just">
              <a:spcAft>
                <a:spcPts val="1000"/>
              </a:spcAft>
            </a:pPr>
            <a:r>
              <a:rPr sz="1000" b="0">
                <a:solidFill>
                  <a:srgbClr val="53565A"/>
                </a:solidFill>
                <a:latin typeface="Helvetica"/>
              </a:rPr>
              <a:t>ETI recommends viewing these hypotheses as a portfolio of incubation opportunities across different time horizons and complexity levels — not as a single prioritized roadmap. Each hypothesis targets a distinct workflow and a distinct type of AI application, and each can be pursued independently.</a:t>
            </a:r>
          </a:p>
          <a:p>
            <a:pPr algn="just">
              <a:spcAft>
                <a:spcPts val="1000"/>
              </a:spcAft>
            </a:pPr>
            <a:r>
              <a:rPr sz="1000" b="1">
                <a:solidFill>
                  <a:srgbClr val="53565A"/>
                </a:solidFill>
                <a:latin typeface="Helvetica"/>
              </a:rPr>
              <a:t>Start here: </a:t>
            </a:r>
            <a:r>
              <a:rPr sz="1000" b="0">
                <a:solidFill>
                  <a:srgbClr val="53565A"/>
                </a:solidFill>
                <a:latin typeface="Helvetica"/>
              </a:rPr>
              <a:t>Hypotheses 2 (Payment Reconciliation) and 3 (Tax Report Retrieval) offer the shortest path to tangible operational value with relatively low implementation complexity. Tax Report Retrieval in particular can be built and demonstrated in hours, replacing a brittle legacy VBA dependency with a modern tool. Payment Reconciliation targets a recurring, high-frequency workflow where even a partial prototype demonstrates clear value.</a:t>
            </a:r>
          </a:p>
          <a:p>
            <a:pPr algn="just">
              <a:spcAft>
                <a:spcPts val="1000"/>
              </a:spcAft>
            </a:pPr>
            <a:r>
              <a:rPr sz="1000" b="1">
                <a:solidFill>
                  <a:srgbClr val="53565A"/>
                </a:solidFill>
                <a:latin typeface="Helvetica"/>
              </a:rPr>
              <a:t>Invest deliberately: </a:t>
            </a:r>
            <a:r>
              <a:rPr sz="1000" b="0">
                <a:solidFill>
                  <a:srgbClr val="53565A"/>
                </a:solidFill>
                <a:latin typeface="Helvetica"/>
              </a:rPr>
              <a:t>Hypothesis 1 (AI-Assisted Deal Modeling) represents the most strategically differentiated opportunity in the portfolio. The upside — automating the single most time-intensive analyst workflow in ETI — is substantial, but so is the validation effort. This is not a quick win; it is a multi-week incubation that requires careful prompt engineering, a human review loop for generated code, and iterative testing against real deal complexity. ETI believes this is worth pursuing, but with appropriate expectations around timeline and effort.</a:t>
            </a:r>
          </a:p>
          <a:p>
            <a:pPr algn="just">
              <a:spcAft>
                <a:spcPts val="1000"/>
              </a:spcAft>
            </a:pPr>
            <a:r>
              <a:rPr sz="1000" b="1">
                <a:solidFill>
                  <a:srgbClr val="53565A"/>
                </a:solidFill>
                <a:latin typeface="Helvetica"/>
              </a:rPr>
              <a:t>Collaborate across the business: </a:t>
            </a:r>
            <a:r>
              <a:rPr sz="1000" b="0">
                <a:solidFill>
                  <a:srgbClr val="53565A"/>
                </a:solidFill>
                <a:latin typeface="Helvetica"/>
              </a:rPr>
              <a:t>Hypothesis 4 (Debt Domain Automation) originated from a shared conversation with Nordic Trustee about a known pain point in their document workflow. It sits in their domain, not ETI’s, and is included here because the same AI workflow automation approach applies naturally. This is a peer collaboration opportunity — if it gains traction, it benefits both businesses.</a:t>
            </a:r>
          </a:p>
          <a:p>
            <a:pPr algn="just">
              <a:spcAft>
                <a:spcPts val="1000"/>
              </a:spcAft>
            </a:pPr>
            <a:r>
              <a:rPr sz="1000" b="0">
                <a:solidFill>
                  <a:srgbClr val="53565A"/>
                </a:solidFill>
                <a:latin typeface="Helvetica"/>
              </a:rPr>
              <a:t>All four hypotheses are designed as fast-cycle experiments with clear success criteria. None requires a large upfront investment or a multi-quarter commitment. These represent ETI’s contribution to the broader Capital Markets AI prototype set. Final prioritization and resourcing decisions sit with the Ocorian AI Incubation Lab, but ETI is ready to support validation and subject matter input as these move forward.</a:t>
            </a:r>
          </a:p>
          <a:p>
            <a:pPr algn="just">
              <a:spcAft>
                <a:spcPts val="1000"/>
              </a:spcAft>
            </a:pPr>
            <a:r>
              <a:rPr sz="1000" b="1">
                <a:solidFill>
                  <a:srgbClr val="53565A"/>
                </a:solidFill>
                <a:latin typeface="Helvetica"/>
              </a:rPr>
              <a:t>A note on tooling: </a:t>
            </a:r>
            <a:r>
              <a:rPr sz="1000" b="0">
                <a:solidFill>
                  <a:srgbClr val="53565A"/>
                </a:solidFill>
                <a:latin typeface="Helvetica"/>
              </a:rPr>
              <a:t>The timelines and complexity estimates in this document assume access to lightweight AI workflow tooling (e.g., Claude Cowork/Code) that enables rapid prototyping without traditional application scaffolding. If prototyping relies on heavier infrastructure — such as full Azure web application builds with conventional development cycles — timelines and complexity would increase substantially. Most of the hypotheses presented here are workflow-layer improvements, not custom application builds, and are best served by tooling designed for that purpose.</a:t>
            </a:r>
          </a:p>
        </p:txBody>
      </p:sp>
      <p:sp>
        <p:nvSpPr>
          <p:cNvPr id="10" name="Rectangle 9"/>
          <p:cNvSpPr/>
          <p:nvPr/>
        </p:nvSpPr>
        <p:spPr>
          <a:xfrm>
            <a:off x="685800" y="9326880"/>
            <a:ext cx="914400" cy="12700"/>
          </a:xfrm>
          <a:prstGeom prst="rect">
            <a:avLst/>
          </a:prstGeom>
          <a:solidFill>
            <a:srgbClr val="00A2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9418320"/>
            <a:ext cx="2743200" cy="182880"/>
          </a:xfrm>
          <a:prstGeom prst="rect">
            <a:avLst/>
          </a:prstGeom>
          <a:noFill/>
        </p:spPr>
        <p:txBody>
          <a:bodyPr wrap="square" lIns="0" rIns="0" tIns="0" bIns="0"/>
          <a:lstStyle/>
          <a:p>
            <a:pPr algn="l">
              <a:defRPr sz="700" b="0" i="0">
                <a:solidFill>
                  <a:srgbClr val="53565A"/>
                </a:solidFill>
                <a:latin typeface="Helvetica"/>
              </a:defRPr>
            </a:pPr>
            <a:r>
              <a:t>CONFIDENTIAL — DRAFT FOR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